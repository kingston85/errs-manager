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124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6455664"/>
            <a:ext cx="114235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Republic of Liberia  ·  Environmental Protection Agency  ·  Bright Building 302-A, Sekou Toure Avenue, Mamba Point  ·  P.O. Box 4024, 1000 Monrovia, 10 Liberia</a:t>
            </a:r>
          </a:p>
        </p:txBody>
      </p:sp>
      <p:pic>
        <p:nvPicPr>
          <p:cNvPr id="5" name="Picture 4" descr="seal_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7200"/>
            <a:ext cx="914400" cy="914400"/>
          </a:xfrm>
          <a:prstGeom prst="rect">
            <a:avLst/>
          </a:prstGeom>
        </p:spPr>
      </p:pic>
      <p:pic>
        <p:nvPicPr>
          <p:cNvPr id="6" name="Picture 5" descr="epa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495" y="457200"/>
            <a:ext cx="91440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4048" y="1810512"/>
            <a:ext cx="114235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6B7280"/>
                </a:solidFill>
                <a:latin typeface="Calibri"/>
              </a:rPr>
              <a:t>ENVIRONMENTAL PROTECTION AGENCY OF LIBERIA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2176272"/>
            <a:ext cx="11423599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100" b="1" i="0">
                <a:solidFill>
                  <a:srgbClr val="124A2C"/>
                </a:solidFill>
                <a:latin typeface="Calibri"/>
              </a:rPr>
              <a:t>Environmental Research and Radiation Safety Department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90007" y="2944368"/>
            <a:ext cx="2011680" cy="36576"/>
          </a:xfrm>
          <a:prstGeom prst="rect">
            <a:avLst/>
          </a:prstGeom>
          <a:solidFill>
            <a:srgbClr val="1E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3145536"/>
            <a:ext cx="1142359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1E7A43"/>
                </a:solidFill>
                <a:latin typeface="Calibri"/>
              </a:rPr>
              <a:t>COMPREHENSIVE TERMS OF REFERENCE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977639"/>
            <a:ext cx="996055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 i="0">
                <a:solidFill>
                  <a:srgbClr val="33414E"/>
                </a:solidFill>
                <a:latin typeface="Calibri"/>
              </a:rPr>
              <a:t>Chemical Management Unit (CMU)   |   Environmental Monitoring &amp; Research Unit (EMR)</a:t>
            </a:r>
          </a:p>
          <a:p>
            <a:pPr algn="ctr"/>
            <a:r>
              <a:rPr sz="1250" b="0" i="0">
                <a:solidFill>
                  <a:srgbClr val="33414E"/>
                </a:solidFill>
                <a:latin typeface="Calibri"/>
              </a:rPr>
              <a:t>Radiation Safety Unit (RSU)   |   Waste and Remediation Unit (WRU)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4983480"/>
            <a:ext cx="1142359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Prepared by the Environmental Research and Radiation Safety Department</a:t>
            </a:r>
          </a:p>
          <a:p>
            <a:pPr algn="ctr"/>
            <a:r>
              <a:rPr sz="1200" b="1" i="0">
                <a:solidFill>
                  <a:srgbClr val="212B36"/>
                </a:solidFill>
                <a:latin typeface="Calibri"/>
              </a:rPr>
              <a:t>August 07,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1142359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24A2C"/>
                </a:solidFill>
                <a:latin typeface="Calibri"/>
              </a:rPr>
              <a:t>PRESENTATION 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502920"/>
            <a:ext cx="1142359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24A2C"/>
                </a:solidFill>
                <a:latin typeface="Calibri"/>
              </a:rPr>
              <a:t>What This Presentation Covers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042415"/>
            <a:ext cx="11423599" cy="25603"/>
          </a:xfrm>
          <a:prstGeom prst="rect">
            <a:avLst/>
          </a:prstGeom>
          <a:solidFill>
            <a:srgbClr val="124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6519672"/>
            <a:ext cx="11423599" cy="10972"/>
          </a:xfrm>
          <a:prstGeom prst="rect">
            <a:avLst/>
          </a:prstGeom>
          <a:solidFill>
            <a:srgbClr val="D6D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74536"/>
            <a:ext cx="9601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Environmental Research and Radiation Safety Department  |  Comprehensive Terms of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76127" y="657453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B7280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417320"/>
            <a:ext cx="5614416" cy="1060704"/>
          </a:xfrm>
          <a:prstGeom prst="rect">
            <a:avLst/>
          </a:prstGeom>
          <a:solidFill>
            <a:srgbClr val="E9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85216" y="1700784"/>
            <a:ext cx="493776" cy="493776"/>
          </a:xfrm>
          <a:prstGeom prst="ellipse">
            <a:avLst/>
          </a:prstGeom>
          <a:solidFill>
            <a:srgbClr val="124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581912"/>
            <a:ext cx="4517136" cy="786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24A2C"/>
                </a:solidFill>
                <a:latin typeface="Calibri"/>
              </a:rPr>
              <a:t>Introduction</a:t>
            </a:r>
          </a:p>
          <a:p>
            <a:pPr algn="l"/>
            <a:r>
              <a:rPr sz="1050" b="0" i="0">
                <a:solidFill>
                  <a:srgbClr val="33414E"/>
                </a:solidFill>
                <a:latin typeface="Calibri"/>
              </a:rPr>
              <a:t>Purpose and scope of the Terms of Reference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7064" y="1417320"/>
            <a:ext cx="5614416" cy="1060704"/>
          </a:xfrm>
          <a:prstGeom prst="rect">
            <a:avLst/>
          </a:prstGeom>
          <a:solidFill>
            <a:srgbClr val="E9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28231" y="1700784"/>
            <a:ext cx="493776" cy="493776"/>
          </a:xfrm>
          <a:prstGeom prst="ellipse">
            <a:avLst/>
          </a:prstGeom>
          <a:solidFill>
            <a:srgbClr val="124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1464" y="1581912"/>
            <a:ext cx="4517136" cy="786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24A2C"/>
                </a:solidFill>
                <a:latin typeface="Calibri"/>
              </a:rPr>
              <a:t>Vision, Mission &amp; Core Values</a:t>
            </a:r>
          </a:p>
          <a:p>
            <a:pPr algn="l"/>
            <a:r>
              <a:rPr sz="1050" b="0" i="0">
                <a:solidFill>
                  <a:srgbClr val="33414E"/>
                </a:solidFill>
                <a:latin typeface="Calibri"/>
              </a:rPr>
              <a:t>The department’s direction and principles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624328"/>
            <a:ext cx="5614416" cy="1060704"/>
          </a:xfrm>
          <a:prstGeom prst="rect">
            <a:avLst/>
          </a:prstGeom>
          <a:solidFill>
            <a:srgbClr val="E9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5216" y="2907792"/>
            <a:ext cx="493776" cy="493776"/>
          </a:xfrm>
          <a:prstGeom prst="ellipse">
            <a:avLst/>
          </a:prstGeom>
          <a:solidFill>
            <a:srgbClr val="124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788920"/>
            <a:ext cx="4517136" cy="786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24A2C"/>
                </a:solidFill>
                <a:latin typeface="Calibri"/>
              </a:rPr>
              <a:t>Departmental Structure</a:t>
            </a:r>
          </a:p>
          <a:p>
            <a:pPr algn="l"/>
            <a:r>
              <a:rPr sz="1050" b="0" i="0">
                <a:solidFill>
                  <a:srgbClr val="33414E"/>
                </a:solidFill>
                <a:latin typeface="Calibri"/>
              </a:rPr>
              <a:t>The ERRS organogram — 33 established positions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27064" y="2624328"/>
            <a:ext cx="5614416" cy="1060704"/>
          </a:xfrm>
          <a:prstGeom prst="rect">
            <a:avLst/>
          </a:prstGeom>
          <a:solidFill>
            <a:srgbClr val="E9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8231" y="2907792"/>
            <a:ext cx="493776" cy="493776"/>
          </a:xfrm>
          <a:prstGeom prst="ellipse">
            <a:avLst/>
          </a:prstGeom>
          <a:solidFill>
            <a:srgbClr val="124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1464" y="2788920"/>
            <a:ext cx="4517136" cy="786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24A2C"/>
                </a:solidFill>
                <a:latin typeface="Calibri"/>
              </a:rPr>
              <a:t>Inter-Unit Collaboration</a:t>
            </a:r>
          </a:p>
          <a:p>
            <a:pPr algn="l"/>
            <a:r>
              <a:rPr sz="1050" b="0" i="0">
                <a:solidFill>
                  <a:srgbClr val="33414E"/>
                </a:solidFill>
                <a:latin typeface="Calibri"/>
              </a:rPr>
              <a:t>Seven cross-functional mechanisms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3831335"/>
            <a:ext cx="5614416" cy="1060704"/>
          </a:xfrm>
          <a:prstGeom prst="rect">
            <a:avLst/>
          </a:prstGeom>
          <a:solidFill>
            <a:srgbClr val="E9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5216" y="4114799"/>
            <a:ext cx="493776" cy="493776"/>
          </a:xfrm>
          <a:prstGeom prst="ellipse">
            <a:avLst/>
          </a:prstGeom>
          <a:solidFill>
            <a:srgbClr val="124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3995927"/>
            <a:ext cx="4517136" cy="786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24A2C"/>
                </a:solidFill>
                <a:latin typeface="Calibri"/>
              </a:rPr>
              <a:t>Office of the Director</a:t>
            </a:r>
          </a:p>
          <a:p>
            <a:pPr algn="l"/>
            <a:r>
              <a:rPr sz="1050" b="0" i="0">
                <a:solidFill>
                  <a:srgbClr val="33414E"/>
                </a:solidFill>
                <a:latin typeface="Calibri"/>
              </a:rPr>
              <a:t>Leadership of the department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27064" y="3831335"/>
            <a:ext cx="5614416" cy="1060704"/>
          </a:xfrm>
          <a:prstGeom prst="rect">
            <a:avLst/>
          </a:prstGeom>
          <a:solidFill>
            <a:srgbClr val="E9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28231" y="4114799"/>
            <a:ext cx="493776" cy="493776"/>
          </a:xfrm>
          <a:prstGeom prst="ellipse">
            <a:avLst/>
          </a:prstGeom>
          <a:solidFill>
            <a:srgbClr val="124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41464" y="3995927"/>
            <a:ext cx="4517136" cy="786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24A2C"/>
                </a:solidFill>
                <a:latin typeface="Calibri"/>
              </a:rPr>
              <a:t>Unit Terms of Reference</a:t>
            </a:r>
          </a:p>
          <a:p>
            <a:pPr algn="l"/>
            <a:r>
              <a:rPr sz="1050" b="0" i="0">
                <a:solidFill>
                  <a:srgbClr val="33414E"/>
                </a:solidFill>
                <a:latin typeface="Calibri"/>
              </a:rPr>
              <a:t>CMU · EMR · RSU · WRU — mandates, roles, qualifications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5038344"/>
            <a:ext cx="5614416" cy="1060704"/>
          </a:xfrm>
          <a:prstGeom prst="rect">
            <a:avLst/>
          </a:prstGeom>
          <a:solidFill>
            <a:srgbClr val="E9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85216" y="5321807"/>
            <a:ext cx="493776" cy="493776"/>
          </a:xfrm>
          <a:prstGeom prst="ellipse">
            <a:avLst/>
          </a:prstGeom>
          <a:solidFill>
            <a:srgbClr val="124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5202936"/>
            <a:ext cx="4517136" cy="786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24A2C"/>
                </a:solidFill>
                <a:latin typeface="Calibri"/>
              </a:rPr>
              <a:t>Qualifications &amp; Experience</a:t>
            </a:r>
          </a:p>
          <a:p>
            <a:pPr algn="l"/>
            <a:r>
              <a:rPr sz="1050" b="0" i="0">
                <a:solidFill>
                  <a:srgbClr val="33414E"/>
                </a:solidFill>
                <a:latin typeface="Calibri"/>
              </a:rPr>
              <a:t>Degree and experience requirements at a glance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27064" y="5038344"/>
            <a:ext cx="5614416" cy="1060704"/>
          </a:xfrm>
          <a:prstGeom prst="rect">
            <a:avLst/>
          </a:prstGeom>
          <a:solidFill>
            <a:srgbClr val="E9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8231" y="5321807"/>
            <a:ext cx="493776" cy="493776"/>
          </a:xfrm>
          <a:prstGeom prst="ellipse">
            <a:avLst/>
          </a:prstGeom>
          <a:solidFill>
            <a:srgbClr val="124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41464" y="5202936"/>
            <a:ext cx="4517136" cy="786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24A2C"/>
                </a:solidFill>
                <a:latin typeface="Calibri"/>
              </a:rPr>
              <a:t>Key Takeaways</a:t>
            </a:r>
          </a:p>
          <a:p>
            <a:pPr algn="l"/>
            <a:r>
              <a:rPr sz="1050" b="0" i="0">
                <a:solidFill>
                  <a:srgbClr val="33414E"/>
                </a:solidFill>
                <a:latin typeface="Calibri"/>
              </a:rPr>
              <a:t>What the ToR delivers for ERRS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1142359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24A2C"/>
                </a:solidFill>
                <a:latin typeface="Calibri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502920"/>
            <a:ext cx="1142359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24A2C"/>
                </a:solidFill>
                <a:latin typeface="Calibri"/>
              </a:rPr>
              <a:t>Purpose &amp; Scope of the Terms of Reference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042415"/>
            <a:ext cx="11423599" cy="25603"/>
          </a:xfrm>
          <a:prstGeom prst="rect">
            <a:avLst/>
          </a:prstGeom>
          <a:solidFill>
            <a:srgbClr val="124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6519672"/>
            <a:ext cx="11423599" cy="10972"/>
          </a:xfrm>
          <a:prstGeom prst="rect">
            <a:avLst/>
          </a:prstGeom>
          <a:solidFill>
            <a:srgbClr val="D6D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74536"/>
            <a:ext cx="9601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Environmental Research and Radiation Safety Department  |  Comprehensive Terms of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76127" y="657453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371600"/>
            <a:ext cx="672084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3736" indent="-173736">
              <a:lnSpc>
                <a:spcPct val="112000"/>
              </a:lnSpc>
              <a:spcAft>
                <a:spcPts val="1400"/>
              </a:spcAft>
              <a:buClr>
                <a:srgbClr val="1E7A43"/>
              </a:buClr>
              <a:buFont typeface="Calibri"/>
              <a:buChar char="▪"/>
            </a:pPr>
            <a:r>
              <a:rPr sz="1250" b="0" i="0">
                <a:solidFill>
                  <a:srgbClr val="33414E"/>
                </a:solidFill>
                <a:latin typeface="Calibri"/>
              </a:rPr>
              <a:t>Compiles the Terms of Reference (ToR) for the units of the Environmental Research and Radiation Safety (ERRS) Department of the Environmental Protection Agency (EPA) of Liberia.</a:t>
            </a:r>
          </a:p>
          <a:p>
            <a:pPr algn="l" marL="173736" indent="-173736">
              <a:lnSpc>
                <a:spcPct val="112000"/>
              </a:lnSpc>
              <a:spcAft>
                <a:spcPts val="1400"/>
              </a:spcAft>
              <a:buClr>
                <a:srgbClr val="1E7A43"/>
              </a:buClr>
              <a:buFont typeface="Calibri"/>
              <a:buChar char="▪"/>
            </a:pPr>
            <a:r>
              <a:rPr sz="1250" b="0" i="0">
                <a:solidFill>
                  <a:srgbClr val="33414E"/>
                </a:solidFill>
                <a:latin typeface="Calibri"/>
              </a:rPr>
              <a:t>The Department is headed by a Director, with each specialist unit led by an Assistant Director.</a:t>
            </a:r>
          </a:p>
          <a:p>
            <a:pPr algn="l" marL="173736" indent="-173736">
              <a:lnSpc>
                <a:spcPct val="112000"/>
              </a:lnSpc>
              <a:spcAft>
                <a:spcPts val="1400"/>
              </a:spcAft>
              <a:buClr>
                <a:srgbClr val="1E7A43"/>
              </a:buClr>
              <a:buFont typeface="Calibri"/>
              <a:buChar char="▪"/>
            </a:pPr>
            <a:r>
              <a:rPr sz="1250" b="0" i="0">
                <a:solidFill>
                  <a:srgbClr val="33414E"/>
                </a:solidFill>
                <a:latin typeface="Calibri"/>
              </a:rPr>
              <a:t>Provides a clear overview of the responsibilities, duties and minimum qualifications for key personnel across the four units.</a:t>
            </a:r>
          </a:p>
          <a:p>
            <a:pPr algn="l" marL="173736" indent="-173736">
              <a:lnSpc>
                <a:spcPct val="112000"/>
              </a:lnSpc>
              <a:spcAft>
                <a:spcPts val="1400"/>
              </a:spcAft>
              <a:buClr>
                <a:srgbClr val="1E7A43"/>
              </a:buClr>
              <a:buFont typeface="Calibri"/>
              <a:buChar char="▪"/>
            </a:pPr>
            <a:r>
              <a:rPr sz="1250" b="0" i="0">
                <a:solidFill>
                  <a:srgbClr val="33414E"/>
                </a:solidFill>
                <a:latin typeface="Calibri"/>
              </a:rPr>
              <a:t>Covers the Chemical Management Unit (CMU), Environmental Monitoring &amp; Research Unit (EMR), Radiation Safety Unit (RSU) and Waste &amp; Remediation Unit (WRU).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5120640"/>
            <a:ext cx="6720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24A2C"/>
                </a:solidFill>
                <a:latin typeface="Calibri"/>
              </a:rPr>
              <a:t>Position status in the organogram:  </a:t>
            </a:r>
            <a:r>
              <a:rPr sz="1100" b="0" i="0">
                <a:solidFill>
                  <a:srgbClr val="33414E"/>
                </a:solidFill>
                <a:latin typeface="Calibri"/>
              </a:rPr>
              <a:t>green = occupied, black = vacant, and orange = staff available but pending re-classification of position.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371600"/>
            <a:ext cx="2157984" cy="1298448"/>
          </a:xfrm>
          <a:prstGeom prst="rect">
            <a:avLst/>
          </a:prstGeom>
          <a:solidFill>
            <a:srgbClr val="FFFFFF"/>
          </a:solidFill>
          <a:ln w="17780">
            <a:solidFill>
              <a:srgbClr val="124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1517904"/>
            <a:ext cx="21579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>
                <a:solidFill>
                  <a:srgbClr val="124A2C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2176272"/>
            <a:ext cx="21579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12B36"/>
                </a:solidFill>
                <a:latin typeface="Calibri"/>
              </a:rPr>
              <a:t>Director, ERRS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74936" y="1371600"/>
            <a:ext cx="2157984" cy="1298448"/>
          </a:xfrm>
          <a:prstGeom prst="rect">
            <a:avLst/>
          </a:prstGeom>
          <a:solidFill>
            <a:srgbClr val="FFFFFF"/>
          </a:solidFill>
          <a:ln w="17780">
            <a:solidFill>
              <a:srgbClr val="1E7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74936" y="1517904"/>
            <a:ext cx="21579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>
                <a:solidFill>
                  <a:srgbClr val="1E7A43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74936" y="2176272"/>
            <a:ext cx="21579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12B36"/>
                </a:solidFill>
                <a:latin typeface="Calibri"/>
              </a:rPr>
              <a:t>Specialist Units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52360" y="2834639"/>
            <a:ext cx="2157984" cy="1298448"/>
          </a:xfrm>
          <a:prstGeom prst="rect">
            <a:avLst/>
          </a:prstGeom>
          <a:solidFill>
            <a:srgbClr val="FFFFFF"/>
          </a:solidFill>
          <a:ln w="17780">
            <a:solidFill>
              <a:srgbClr val="1E7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2980944"/>
            <a:ext cx="21579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>
                <a:solidFill>
                  <a:srgbClr val="1E7A43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3639311"/>
            <a:ext cx="21579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12B36"/>
                </a:solidFill>
                <a:latin typeface="Calibri"/>
              </a:rPr>
              <a:t>Assistant Directors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74936" y="2834639"/>
            <a:ext cx="2157984" cy="1298448"/>
          </a:xfrm>
          <a:prstGeom prst="rect">
            <a:avLst/>
          </a:prstGeom>
          <a:solidFill>
            <a:srgbClr val="FFFFFF"/>
          </a:solidFill>
          <a:ln w="17780">
            <a:solidFill>
              <a:srgbClr val="124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4936" y="2980944"/>
            <a:ext cx="21579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>
                <a:solidFill>
                  <a:srgbClr val="124A2C"/>
                </a:solidFill>
                <a:latin typeface="Calibri"/>
              </a:rPr>
              <a:t>33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74936" y="3639311"/>
            <a:ext cx="21579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12B36"/>
                </a:solidFill>
                <a:latin typeface="Calibri"/>
              </a:rPr>
              <a:t>Positions Defined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315968"/>
            <a:ext cx="4480559" cy="1920240"/>
          </a:xfrm>
          <a:prstGeom prst="rect">
            <a:avLst/>
          </a:prstGeom>
          <a:solidFill>
            <a:srgbClr val="E9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5240" y="4498848"/>
            <a:ext cx="411480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124A2C"/>
                </a:solidFill>
                <a:latin typeface="Calibri"/>
              </a:rPr>
              <a:t>THE FOUR UNITS</a:t>
            </a:r>
          </a:p>
          <a:p>
            <a:pPr algn="l" marL="173736" indent="-173736">
              <a:spcAft>
                <a:spcPts val="500"/>
              </a:spcAft>
              <a:buClr>
                <a:srgbClr val="1D4ED8"/>
              </a:buClr>
              <a:buFont typeface="Calibri"/>
              <a:buChar char="▪"/>
            </a:pPr>
            <a:r>
              <a:rPr sz="1050" b="0" i="0">
                <a:solidFill>
                  <a:srgbClr val="33414E"/>
                </a:solidFill>
                <a:latin typeface="Calibri"/>
              </a:rPr>
              <a:t>Chemical Management Unit (CMU)</a:t>
            </a:r>
          </a:p>
          <a:p>
            <a:pPr algn="l" marL="173736" indent="-173736">
              <a:spcAft>
                <a:spcPts val="500"/>
              </a:spcAft>
              <a:buClr>
                <a:srgbClr val="0E746C"/>
              </a:buClr>
              <a:buFont typeface="Calibri"/>
              <a:buChar char="▪"/>
            </a:pPr>
            <a:r>
              <a:rPr sz="1050" b="0" i="0">
                <a:solidFill>
                  <a:srgbClr val="33414E"/>
                </a:solidFill>
                <a:latin typeface="Calibri"/>
              </a:rPr>
              <a:t>Environmental Monitoring &amp; Research Unit (EMR)</a:t>
            </a:r>
          </a:p>
          <a:p>
            <a:pPr algn="l" marL="173736" indent="-173736">
              <a:spcAft>
                <a:spcPts val="500"/>
              </a:spcAft>
              <a:buClr>
                <a:srgbClr val="B45309"/>
              </a:buClr>
              <a:buFont typeface="Calibri"/>
              <a:buChar char="▪"/>
            </a:pPr>
            <a:r>
              <a:rPr sz="1050" b="0" i="0">
                <a:solidFill>
                  <a:srgbClr val="33414E"/>
                </a:solidFill>
                <a:latin typeface="Calibri"/>
              </a:rPr>
              <a:t>Radiation Safety Unit (RSU)</a:t>
            </a:r>
          </a:p>
          <a:p>
            <a:pPr algn="l" marL="173736" indent="-173736">
              <a:spcAft>
                <a:spcPts val="500"/>
              </a:spcAft>
              <a:buClr>
                <a:srgbClr val="6D28D9"/>
              </a:buClr>
              <a:buFont typeface="Calibri"/>
              <a:buChar char="▪"/>
            </a:pPr>
            <a:r>
              <a:rPr sz="1050" b="0" i="0">
                <a:solidFill>
                  <a:srgbClr val="33414E"/>
                </a:solidFill>
                <a:latin typeface="Calibri"/>
              </a:rPr>
              <a:t>Waste &amp; Remediation Unit (WRU)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1142359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24A2C"/>
                </a:solidFill>
                <a:latin typeface="Calibri"/>
              </a:rPr>
              <a:t>STRATEGIC DIRECTION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502920"/>
            <a:ext cx="1142359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24A2C"/>
                </a:solidFill>
                <a:latin typeface="Calibri"/>
              </a:rPr>
              <a:t>Departmental Vision &amp; Mission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042415"/>
            <a:ext cx="11423599" cy="25603"/>
          </a:xfrm>
          <a:prstGeom prst="rect">
            <a:avLst/>
          </a:prstGeom>
          <a:solidFill>
            <a:srgbClr val="124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6519672"/>
            <a:ext cx="11423599" cy="10972"/>
          </a:xfrm>
          <a:prstGeom prst="rect">
            <a:avLst/>
          </a:prstGeom>
          <a:solidFill>
            <a:srgbClr val="D6D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74536"/>
            <a:ext cx="9601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Environmental Research and Radiation Safety Department  |  Comprehensive Terms of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76127" y="657453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554480"/>
            <a:ext cx="5574639" cy="3017520"/>
          </a:xfrm>
          <a:prstGeom prst="rect">
            <a:avLst/>
          </a:prstGeom>
          <a:solidFill>
            <a:srgbClr val="E9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554480"/>
            <a:ext cx="82296" cy="3017520"/>
          </a:xfrm>
          <a:prstGeom prst="rect">
            <a:avLst/>
          </a:prstGeom>
          <a:solidFill>
            <a:srgbClr val="124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28800"/>
            <a:ext cx="4888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24A2C"/>
                </a:solidFill>
                <a:latin typeface="Calibri"/>
              </a:rPr>
              <a:t>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331720"/>
            <a:ext cx="488883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12B36"/>
                </a:solidFill>
                <a:latin typeface="Calibri"/>
              </a:rPr>
              <a:t>To be a leading force in environmental protection and radiation safety, fostering a healthy and sustainable Liberia through scientific excellence, regulatory compliance, and community engagement.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1554480"/>
            <a:ext cx="5574639" cy="3017520"/>
          </a:xfrm>
          <a:prstGeom prst="rect">
            <a:avLst/>
          </a:prstGeom>
          <a:solidFill>
            <a:srgbClr val="E9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7" y="1554480"/>
            <a:ext cx="82296" cy="3017520"/>
          </a:xfrm>
          <a:prstGeom prst="rect">
            <a:avLst/>
          </a:prstGeom>
          <a:solidFill>
            <a:srgbClr val="1E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98767" y="1828800"/>
            <a:ext cx="4888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7A43"/>
                </a:solidFill>
                <a:latin typeface="Calibri"/>
              </a:rPr>
              <a:t>MISSION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8767" y="2331720"/>
            <a:ext cx="488883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12B36"/>
                </a:solidFill>
                <a:latin typeface="Calibri"/>
              </a:rPr>
              <a:t>To safeguard public health and the environment by conducting rigorous research, monitoring environmental parameters, ensuring safe chemical and radiation management, and promoting sustainable waste and remediation practices.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4983480"/>
            <a:ext cx="1142359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6B7280"/>
                </a:solidFill>
                <a:latin typeface="Calibri"/>
              </a:rPr>
              <a:t>Together, the vision and mission anchor a department that protects Liberia’s environment and public health through evidence, regulation and partnership — delivered by four specialist units working as one ERRS team.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1142359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24A2C"/>
                </a:solidFill>
                <a:latin typeface="Calibri"/>
              </a:rPr>
              <a:t>STRATEGIC DIRECTION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502920"/>
            <a:ext cx="1142359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24A2C"/>
                </a:solidFill>
                <a:latin typeface="Calibri"/>
              </a:rPr>
              <a:t>Core Values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042415"/>
            <a:ext cx="11423599" cy="25603"/>
          </a:xfrm>
          <a:prstGeom prst="rect">
            <a:avLst/>
          </a:prstGeom>
          <a:solidFill>
            <a:srgbClr val="124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6519672"/>
            <a:ext cx="11423599" cy="10972"/>
          </a:xfrm>
          <a:prstGeom prst="rect">
            <a:avLst/>
          </a:prstGeom>
          <a:solidFill>
            <a:srgbClr val="D6D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74536"/>
            <a:ext cx="9601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Environmental Research and Radiation Safety Department  |  Comprehensive Terms of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76127" y="657453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463040"/>
            <a:ext cx="352044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24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463040"/>
            <a:ext cx="3520440" cy="128016"/>
          </a:xfrm>
          <a:prstGeom prst="rect">
            <a:avLst/>
          </a:prstGeom>
          <a:solidFill>
            <a:srgbClr val="124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7" y="173736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124A2C"/>
                </a:solidFill>
                <a:latin typeface="Calibri"/>
              </a:rPr>
              <a:t>Integrity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7" y="2176272"/>
            <a:ext cx="30632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33414E"/>
                </a:solidFill>
                <a:latin typeface="Calibri"/>
              </a:rPr>
              <a:t>Upholding the highest ethical standards in all our operations and interactions.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4256" y="1463040"/>
            <a:ext cx="352044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7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4256" y="1463040"/>
            <a:ext cx="3520440" cy="128016"/>
          </a:xfrm>
          <a:prstGeom prst="rect">
            <a:avLst/>
          </a:prstGeom>
          <a:solidFill>
            <a:srgbClr val="1E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2856" y="173736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1E7A43"/>
                </a:solidFill>
                <a:latin typeface="Calibri"/>
              </a:rPr>
              <a:t>Excellence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2176272"/>
            <a:ext cx="30632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33414E"/>
                </a:solidFill>
                <a:latin typeface="Calibri"/>
              </a:rPr>
              <a:t>Striving for scientific rigor, accuracy and continuous improvement in all our endeavors.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84464" y="1463040"/>
            <a:ext cx="352044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E74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84464" y="1463040"/>
            <a:ext cx="3520440" cy="128016"/>
          </a:xfrm>
          <a:prstGeom prst="rect">
            <a:avLst/>
          </a:prstGeom>
          <a:solidFill>
            <a:srgbClr val="0E7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13064" y="173736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0E746C"/>
                </a:solidFill>
                <a:latin typeface="Calibri"/>
              </a:rPr>
              <a:t>Collaboration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13064" y="2176272"/>
            <a:ext cx="30632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33414E"/>
                </a:solidFill>
                <a:latin typeface="Calibri"/>
              </a:rPr>
              <a:t>Fostering strong partnerships within the department, across government agencies, and with national and international stakeholders.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59152" y="3520440"/>
            <a:ext cx="352044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59152" y="3520440"/>
            <a:ext cx="3520440" cy="12801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87752" y="379476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B45309"/>
                </a:solidFill>
                <a:latin typeface="Calibri"/>
              </a:rPr>
              <a:t>Accountability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87752" y="4233672"/>
            <a:ext cx="30632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33414E"/>
                </a:solidFill>
                <a:latin typeface="Calibri"/>
              </a:rPr>
              <a:t>Taking responsibility for our actions and their impact on the environment and public well-being.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3520440"/>
            <a:ext cx="352044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3520440"/>
            <a:ext cx="3520440" cy="12801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379476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6D28D9"/>
                </a:solidFill>
                <a:latin typeface="Calibri"/>
              </a:rPr>
              <a:t>Innovation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233672"/>
            <a:ext cx="30632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33414E"/>
                </a:solidFill>
                <a:latin typeface="Calibri"/>
              </a:rPr>
              <a:t>Embracing new technologies and approaches to address complex environmental challenges.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1142359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24A2C"/>
                </a:solidFill>
                <a:latin typeface="Calibri"/>
              </a:rPr>
              <a:t>DEPARTMENTAL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502920"/>
            <a:ext cx="1142359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24A2C"/>
                </a:solidFill>
                <a:latin typeface="Calibri"/>
              </a:rPr>
              <a:t>ERRS Organogram — 33 Established Positions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042415"/>
            <a:ext cx="11423599" cy="25603"/>
          </a:xfrm>
          <a:prstGeom prst="rect">
            <a:avLst/>
          </a:prstGeom>
          <a:solidFill>
            <a:srgbClr val="124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6519672"/>
            <a:ext cx="11423599" cy="10972"/>
          </a:xfrm>
          <a:prstGeom prst="rect">
            <a:avLst/>
          </a:prstGeom>
          <a:solidFill>
            <a:srgbClr val="D6D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74536"/>
            <a:ext cx="9601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Environmental Research and Radiation Safety Department  |  Comprehensive Terms of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76127" y="657453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41367" y="1152144"/>
            <a:ext cx="3108960" cy="420624"/>
          </a:xfrm>
          <a:prstGeom prst="roundRect">
            <a:avLst>
              <a:gd name="adj" fmla="val 25000"/>
            </a:avLst>
          </a:prstGeom>
          <a:solidFill>
            <a:srgbClr val="124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Director, ERRS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5789" y="1572768"/>
            <a:ext cx="20116" cy="237744"/>
          </a:xfrm>
          <a:prstGeom prst="rect">
            <a:avLst/>
          </a:prstGeom>
          <a:solidFill>
            <a:srgbClr val="9A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57133" y="1810512"/>
            <a:ext cx="8677427" cy="20116"/>
          </a:xfrm>
          <a:prstGeom prst="rect">
            <a:avLst/>
          </a:prstGeom>
          <a:solidFill>
            <a:srgbClr val="9A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47075" y="1810512"/>
            <a:ext cx="20116" cy="73152"/>
          </a:xfrm>
          <a:prstGeom prst="rect">
            <a:avLst/>
          </a:prstGeom>
          <a:solidFill>
            <a:srgbClr val="9A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" y="1883664"/>
            <a:ext cx="2746171" cy="42062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Assistant Director, CMU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304288"/>
            <a:ext cx="18288" cy="23317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570378"/>
            <a:ext cx="155448" cy="16459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2471851" cy="292608"/>
          </a:xfrm>
          <a:prstGeom prst="rect">
            <a:avLst/>
          </a:prstGeom>
          <a:solidFill>
            <a:srgbClr val="E9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 wrap="square"/>
          <a:lstStyle/>
          <a:p>
            <a:pPr algn="ctr">
              <a:lnSpc>
                <a:spcPct val="95000"/>
              </a:lnSpc>
            </a:pPr>
            <a:r>
              <a:rPr sz="750" b="0" i="0">
                <a:solidFill>
                  <a:srgbClr val="212B36"/>
                </a:solidFill>
                <a:latin typeface="Calibri"/>
              </a:rPr>
              <a:t>Industrial Remediation Supervisor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913278"/>
            <a:ext cx="155448" cy="16459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5204"/>
            <a:ext cx="2471851" cy="292608"/>
          </a:xfrm>
          <a:prstGeom prst="rect">
            <a:avLst/>
          </a:prstGeom>
          <a:solidFill>
            <a:srgbClr val="E9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 wrap="square"/>
          <a:lstStyle/>
          <a:p>
            <a:pPr algn="ctr">
              <a:lnSpc>
                <a:spcPct val="95000"/>
              </a:lnSpc>
            </a:pPr>
            <a:r>
              <a:rPr sz="750" b="0" i="0">
                <a:solidFill>
                  <a:srgbClr val="212B36"/>
                </a:solidFill>
                <a:latin typeface="Calibri"/>
              </a:rPr>
              <a:t>Industrial Safety Analyst(s)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256178"/>
            <a:ext cx="155448" cy="16459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118104"/>
            <a:ext cx="2471851" cy="292608"/>
          </a:xfrm>
          <a:prstGeom prst="rect">
            <a:avLst/>
          </a:prstGeom>
          <a:solidFill>
            <a:srgbClr val="E9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 wrap="square"/>
          <a:lstStyle/>
          <a:p>
            <a:pPr algn="ctr">
              <a:lnSpc>
                <a:spcPct val="95000"/>
              </a:lnSpc>
            </a:pPr>
            <a:r>
              <a:rPr sz="750" b="0" i="0">
                <a:solidFill>
                  <a:srgbClr val="212B36"/>
                </a:solidFill>
                <a:latin typeface="Calibri"/>
              </a:rPr>
              <a:t>Industrial Remediation Analyst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599078"/>
            <a:ext cx="155448" cy="16459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3461004"/>
            <a:ext cx="2471851" cy="292608"/>
          </a:xfrm>
          <a:prstGeom prst="rect">
            <a:avLst/>
          </a:prstGeom>
          <a:solidFill>
            <a:srgbClr val="E9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 wrap="square"/>
          <a:lstStyle/>
          <a:p>
            <a:pPr algn="ctr">
              <a:lnSpc>
                <a:spcPct val="95000"/>
              </a:lnSpc>
            </a:pPr>
            <a:r>
              <a:rPr sz="750" b="0" i="0">
                <a:solidFill>
                  <a:srgbClr val="212B36"/>
                </a:solidFill>
                <a:latin typeface="Calibri"/>
              </a:rPr>
              <a:t>Chemical Remediation Supervisor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941978"/>
            <a:ext cx="155448" cy="16459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803904"/>
            <a:ext cx="2471851" cy="292608"/>
          </a:xfrm>
          <a:prstGeom prst="rect">
            <a:avLst/>
          </a:prstGeom>
          <a:solidFill>
            <a:srgbClr val="E9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 wrap="square"/>
          <a:lstStyle/>
          <a:p>
            <a:pPr algn="ctr">
              <a:lnSpc>
                <a:spcPct val="95000"/>
              </a:lnSpc>
            </a:pPr>
            <a:r>
              <a:rPr sz="750" b="0" i="0">
                <a:solidFill>
                  <a:srgbClr val="212B36"/>
                </a:solidFill>
                <a:latin typeface="Calibri"/>
              </a:rPr>
              <a:t>Chemical Safety Analyst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284878"/>
            <a:ext cx="155448" cy="16459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4146804"/>
            <a:ext cx="2471851" cy="292608"/>
          </a:xfrm>
          <a:prstGeom prst="rect">
            <a:avLst/>
          </a:prstGeom>
          <a:solidFill>
            <a:srgbClr val="E9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 wrap="square"/>
          <a:lstStyle/>
          <a:p>
            <a:pPr algn="ctr">
              <a:lnSpc>
                <a:spcPct val="95000"/>
              </a:lnSpc>
            </a:pPr>
            <a:r>
              <a:rPr sz="750" b="0" i="0">
                <a:solidFill>
                  <a:srgbClr val="212B36"/>
                </a:solidFill>
                <a:latin typeface="Calibri"/>
              </a:rPr>
              <a:t>Chemical Handlers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627778"/>
            <a:ext cx="155448" cy="16459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489704"/>
            <a:ext cx="2471851" cy="292608"/>
          </a:xfrm>
          <a:prstGeom prst="rect">
            <a:avLst/>
          </a:prstGeom>
          <a:solidFill>
            <a:srgbClr val="E9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 wrap="square"/>
          <a:lstStyle/>
          <a:p>
            <a:pPr algn="ctr">
              <a:lnSpc>
                <a:spcPct val="95000"/>
              </a:lnSpc>
            </a:pPr>
            <a:r>
              <a:rPr sz="750" b="0" i="0">
                <a:solidFill>
                  <a:srgbClr val="212B36"/>
                </a:solidFill>
                <a:latin typeface="Calibri"/>
              </a:rPr>
              <a:t>Pollution Registry Technician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39551" y="1810512"/>
            <a:ext cx="20116" cy="73152"/>
          </a:xfrm>
          <a:prstGeom prst="rect">
            <a:avLst/>
          </a:prstGeom>
          <a:solidFill>
            <a:srgbClr val="9A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76523" y="1883664"/>
            <a:ext cx="2746171" cy="420624"/>
          </a:xfrm>
          <a:prstGeom prst="rect">
            <a:avLst/>
          </a:prstGeom>
          <a:solidFill>
            <a:srgbClr val="0E7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Assistant Director, EMR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95395" y="2304288"/>
            <a:ext cx="18288" cy="3360420"/>
          </a:xfrm>
          <a:prstGeom prst="rect">
            <a:avLst/>
          </a:prstGeom>
          <a:solidFill>
            <a:srgbClr val="0E7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95395" y="2570378"/>
            <a:ext cx="155448" cy="16459"/>
          </a:xfrm>
          <a:prstGeom prst="rect">
            <a:avLst/>
          </a:prstGeom>
          <a:solidFill>
            <a:srgbClr val="0E7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50843" y="2432304"/>
            <a:ext cx="2471851" cy="292608"/>
          </a:xfrm>
          <a:prstGeom prst="rect">
            <a:avLst/>
          </a:prstGeom>
          <a:solidFill>
            <a:srgbClr val="E5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 wrap="square"/>
          <a:lstStyle/>
          <a:p>
            <a:pPr algn="ctr">
              <a:lnSpc>
                <a:spcPct val="95000"/>
              </a:lnSpc>
            </a:pPr>
            <a:r>
              <a:rPr sz="750" b="0" i="0">
                <a:solidFill>
                  <a:srgbClr val="212B36"/>
                </a:solidFill>
                <a:latin typeface="Calibri"/>
              </a:rPr>
              <a:t>Environmental Monitoring Supervisor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95395" y="2913278"/>
            <a:ext cx="155448" cy="16459"/>
          </a:xfrm>
          <a:prstGeom prst="rect">
            <a:avLst/>
          </a:prstGeom>
          <a:solidFill>
            <a:srgbClr val="0E7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550843" y="2775204"/>
            <a:ext cx="2471851" cy="292608"/>
          </a:xfrm>
          <a:prstGeom prst="rect">
            <a:avLst/>
          </a:prstGeom>
          <a:solidFill>
            <a:srgbClr val="E5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 wrap="square"/>
          <a:lstStyle/>
          <a:p>
            <a:pPr algn="ctr">
              <a:lnSpc>
                <a:spcPct val="95000"/>
              </a:lnSpc>
            </a:pPr>
            <a:r>
              <a:rPr sz="750" b="0" i="0">
                <a:solidFill>
                  <a:srgbClr val="212B36"/>
                </a:solidFill>
                <a:latin typeface="Calibri"/>
              </a:rPr>
              <a:t>Environmental Monitoring Analyst(s)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95395" y="3256178"/>
            <a:ext cx="155448" cy="16459"/>
          </a:xfrm>
          <a:prstGeom prst="rect">
            <a:avLst/>
          </a:prstGeom>
          <a:solidFill>
            <a:srgbClr val="0E7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550843" y="3118104"/>
            <a:ext cx="2471851" cy="292608"/>
          </a:xfrm>
          <a:prstGeom prst="rect">
            <a:avLst/>
          </a:prstGeom>
          <a:solidFill>
            <a:srgbClr val="E5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 wrap="square"/>
          <a:lstStyle/>
          <a:p>
            <a:pPr algn="ctr">
              <a:lnSpc>
                <a:spcPct val="95000"/>
              </a:lnSpc>
            </a:pPr>
            <a:r>
              <a:rPr sz="750" b="0" i="0">
                <a:solidFill>
                  <a:srgbClr val="212B36"/>
                </a:solidFill>
                <a:latin typeface="Calibri"/>
              </a:rPr>
              <a:t>Occupational &amp; Health Safety Technician(s)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95395" y="3599078"/>
            <a:ext cx="155448" cy="16459"/>
          </a:xfrm>
          <a:prstGeom prst="rect">
            <a:avLst/>
          </a:prstGeom>
          <a:solidFill>
            <a:srgbClr val="0E7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550843" y="3461004"/>
            <a:ext cx="2471851" cy="292608"/>
          </a:xfrm>
          <a:prstGeom prst="rect">
            <a:avLst/>
          </a:prstGeom>
          <a:solidFill>
            <a:srgbClr val="E5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 wrap="square"/>
          <a:lstStyle/>
          <a:p>
            <a:pPr algn="ctr">
              <a:lnSpc>
                <a:spcPct val="95000"/>
              </a:lnSpc>
            </a:pPr>
            <a:r>
              <a:rPr sz="750" b="0" i="0">
                <a:solidFill>
                  <a:srgbClr val="212B36"/>
                </a:solidFill>
                <a:latin typeface="Calibri"/>
              </a:rPr>
              <a:t>Environmental Monitoring Technician(s)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95395" y="3941978"/>
            <a:ext cx="155448" cy="16459"/>
          </a:xfrm>
          <a:prstGeom prst="rect">
            <a:avLst/>
          </a:prstGeom>
          <a:solidFill>
            <a:srgbClr val="0E7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550843" y="3803904"/>
            <a:ext cx="2471851" cy="292608"/>
          </a:xfrm>
          <a:prstGeom prst="rect">
            <a:avLst/>
          </a:prstGeom>
          <a:solidFill>
            <a:srgbClr val="E5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 wrap="square"/>
          <a:lstStyle/>
          <a:p>
            <a:pPr algn="ctr">
              <a:lnSpc>
                <a:spcPct val="95000"/>
              </a:lnSpc>
            </a:pPr>
            <a:r>
              <a:rPr sz="750" b="0" i="0">
                <a:solidFill>
                  <a:srgbClr val="212B36"/>
                </a:solidFill>
                <a:latin typeface="Calibri"/>
              </a:rPr>
              <a:t>Instrumentation Laboratory Supervisor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95395" y="4284878"/>
            <a:ext cx="155448" cy="16459"/>
          </a:xfrm>
          <a:prstGeom prst="rect">
            <a:avLst/>
          </a:prstGeom>
          <a:solidFill>
            <a:srgbClr val="0E7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550843" y="4146804"/>
            <a:ext cx="2471851" cy="292608"/>
          </a:xfrm>
          <a:prstGeom prst="rect">
            <a:avLst/>
          </a:prstGeom>
          <a:solidFill>
            <a:srgbClr val="E5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 wrap="square"/>
          <a:lstStyle/>
          <a:p>
            <a:pPr algn="ctr">
              <a:lnSpc>
                <a:spcPct val="95000"/>
              </a:lnSpc>
            </a:pPr>
            <a:r>
              <a:rPr sz="750" b="0" i="0">
                <a:solidFill>
                  <a:srgbClr val="212B36"/>
                </a:solidFill>
                <a:latin typeface="Calibri"/>
              </a:rPr>
              <a:t>Instrumentation Laboratory Analyst(s)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95395" y="4627778"/>
            <a:ext cx="155448" cy="16459"/>
          </a:xfrm>
          <a:prstGeom prst="rect">
            <a:avLst/>
          </a:prstGeom>
          <a:solidFill>
            <a:srgbClr val="0E7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550843" y="4489704"/>
            <a:ext cx="2471851" cy="292608"/>
          </a:xfrm>
          <a:prstGeom prst="rect">
            <a:avLst/>
          </a:prstGeom>
          <a:solidFill>
            <a:srgbClr val="E5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 wrap="square"/>
          <a:lstStyle/>
          <a:p>
            <a:pPr algn="ctr">
              <a:lnSpc>
                <a:spcPct val="95000"/>
              </a:lnSpc>
            </a:pPr>
            <a:r>
              <a:rPr sz="750" b="0" i="0">
                <a:solidFill>
                  <a:srgbClr val="212B36"/>
                </a:solidFill>
                <a:latin typeface="Calibri"/>
              </a:rPr>
              <a:t>Marine &amp; Water Quality Lab Supervisor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95395" y="4970678"/>
            <a:ext cx="155448" cy="16459"/>
          </a:xfrm>
          <a:prstGeom prst="rect">
            <a:avLst/>
          </a:prstGeom>
          <a:solidFill>
            <a:srgbClr val="0E7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550843" y="4832604"/>
            <a:ext cx="2471851" cy="292608"/>
          </a:xfrm>
          <a:prstGeom prst="rect">
            <a:avLst/>
          </a:prstGeom>
          <a:solidFill>
            <a:srgbClr val="E5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 wrap="square"/>
          <a:lstStyle/>
          <a:p>
            <a:pPr algn="ctr">
              <a:lnSpc>
                <a:spcPct val="95000"/>
              </a:lnSpc>
            </a:pPr>
            <a:r>
              <a:rPr sz="750" b="0" i="0">
                <a:solidFill>
                  <a:srgbClr val="212B36"/>
                </a:solidFill>
                <a:latin typeface="Calibri"/>
              </a:rPr>
              <a:t>Marine &amp; Water Quality Lab Analyst(s)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95395" y="5313578"/>
            <a:ext cx="155448" cy="16459"/>
          </a:xfrm>
          <a:prstGeom prst="rect">
            <a:avLst/>
          </a:prstGeom>
          <a:solidFill>
            <a:srgbClr val="0E7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550843" y="5175504"/>
            <a:ext cx="2471851" cy="292608"/>
          </a:xfrm>
          <a:prstGeom prst="rect">
            <a:avLst/>
          </a:prstGeom>
          <a:solidFill>
            <a:srgbClr val="E5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 wrap="square"/>
          <a:lstStyle/>
          <a:p>
            <a:pPr algn="ctr">
              <a:lnSpc>
                <a:spcPct val="95000"/>
              </a:lnSpc>
            </a:pPr>
            <a:r>
              <a:rPr sz="750" b="0" i="0">
                <a:solidFill>
                  <a:srgbClr val="212B36"/>
                </a:solidFill>
                <a:latin typeface="Calibri"/>
              </a:rPr>
              <a:t>Laboratory Quality Control &amp; Assurance Supervisor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95395" y="5656478"/>
            <a:ext cx="155448" cy="16459"/>
          </a:xfrm>
          <a:prstGeom prst="rect">
            <a:avLst/>
          </a:prstGeom>
          <a:solidFill>
            <a:srgbClr val="0E7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550843" y="5518404"/>
            <a:ext cx="2471851" cy="292608"/>
          </a:xfrm>
          <a:prstGeom prst="rect">
            <a:avLst/>
          </a:prstGeom>
          <a:solidFill>
            <a:srgbClr val="E5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 wrap="square"/>
          <a:lstStyle/>
          <a:p>
            <a:pPr algn="ctr">
              <a:lnSpc>
                <a:spcPct val="95000"/>
              </a:lnSpc>
            </a:pPr>
            <a:r>
              <a:rPr sz="750" b="0" i="0">
                <a:solidFill>
                  <a:srgbClr val="212B36"/>
                </a:solidFill>
                <a:latin typeface="Calibri"/>
              </a:rPr>
              <a:t>Laboratory Data Analyst(s)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32027" y="1810512"/>
            <a:ext cx="20116" cy="73152"/>
          </a:xfrm>
          <a:prstGeom prst="rect">
            <a:avLst/>
          </a:prstGeom>
          <a:solidFill>
            <a:srgbClr val="9A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168999" y="1883664"/>
            <a:ext cx="2746171" cy="42062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Assistant Director, RSU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87871" y="2304288"/>
            <a:ext cx="18288" cy="19888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287871" y="2570378"/>
            <a:ext cx="155448" cy="16459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43319" y="2432304"/>
            <a:ext cx="2471851" cy="292608"/>
          </a:xfrm>
          <a:prstGeom prst="rect">
            <a:avLst/>
          </a:prstGeom>
          <a:solidFill>
            <a:srgbClr val="FA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 wrap="square"/>
          <a:lstStyle/>
          <a:p>
            <a:pPr algn="ctr">
              <a:lnSpc>
                <a:spcPct val="95000"/>
              </a:lnSpc>
            </a:pPr>
            <a:r>
              <a:rPr sz="750" b="0" i="0">
                <a:solidFill>
                  <a:srgbClr val="212B36"/>
                </a:solidFill>
                <a:latin typeface="Calibri"/>
              </a:rPr>
              <a:t>RASIMS Coordinator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87871" y="2913278"/>
            <a:ext cx="155448" cy="16459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443319" y="2775204"/>
            <a:ext cx="2471851" cy="292608"/>
          </a:xfrm>
          <a:prstGeom prst="rect">
            <a:avLst/>
          </a:prstGeom>
          <a:solidFill>
            <a:srgbClr val="FA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 wrap="square"/>
          <a:lstStyle/>
          <a:p>
            <a:pPr algn="ctr">
              <a:lnSpc>
                <a:spcPct val="95000"/>
              </a:lnSpc>
            </a:pPr>
            <a:r>
              <a:rPr sz="750" b="0" i="0">
                <a:solidFill>
                  <a:srgbClr val="212B36"/>
                </a:solidFill>
                <a:latin typeface="Calibri"/>
              </a:rPr>
              <a:t>RASIMS Data Analyst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87871" y="3256178"/>
            <a:ext cx="155448" cy="16459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443319" y="3118104"/>
            <a:ext cx="2471851" cy="292608"/>
          </a:xfrm>
          <a:prstGeom prst="rect">
            <a:avLst/>
          </a:prstGeom>
          <a:solidFill>
            <a:srgbClr val="FA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 wrap="square"/>
          <a:lstStyle/>
          <a:p>
            <a:pPr algn="ctr">
              <a:lnSpc>
                <a:spcPct val="95000"/>
              </a:lnSpc>
            </a:pPr>
            <a:r>
              <a:rPr sz="750" b="0" i="0">
                <a:solidFill>
                  <a:srgbClr val="212B36"/>
                </a:solidFill>
                <a:latin typeface="Calibri"/>
              </a:rPr>
              <a:t>RAIS Data Officer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87871" y="3599078"/>
            <a:ext cx="155448" cy="16459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443319" y="3461004"/>
            <a:ext cx="2471851" cy="292608"/>
          </a:xfrm>
          <a:prstGeom prst="rect">
            <a:avLst/>
          </a:prstGeom>
          <a:solidFill>
            <a:srgbClr val="FA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 wrap="square"/>
          <a:lstStyle/>
          <a:p>
            <a:pPr algn="ctr">
              <a:lnSpc>
                <a:spcPct val="95000"/>
              </a:lnSpc>
            </a:pPr>
            <a:r>
              <a:rPr sz="750" b="0" i="0">
                <a:solidFill>
                  <a:srgbClr val="212B36"/>
                </a:solidFill>
                <a:latin typeface="Calibri"/>
              </a:rPr>
              <a:t>Radiation Safety Lab Supervisor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87871" y="3941978"/>
            <a:ext cx="155448" cy="16459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443319" y="3803904"/>
            <a:ext cx="2471851" cy="292608"/>
          </a:xfrm>
          <a:prstGeom prst="rect">
            <a:avLst/>
          </a:prstGeom>
          <a:solidFill>
            <a:srgbClr val="FA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 wrap="square"/>
          <a:lstStyle/>
          <a:p>
            <a:pPr algn="ctr">
              <a:lnSpc>
                <a:spcPct val="95000"/>
              </a:lnSpc>
            </a:pPr>
            <a:r>
              <a:rPr sz="750" b="0" i="0">
                <a:solidFill>
                  <a:srgbClr val="212B36"/>
                </a:solidFill>
                <a:latin typeface="Calibri"/>
              </a:rPr>
              <a:t>Radiation Safety Analyst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87871" y="4284878"/>
            <a:ext cx="155448" cy="16459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443319" y="4146804"/>
            <a:ext cx="2471851" cy="292608"/>
          </a:xfrm>
          <a:prstGeom prst="rect">
            <a:avLst/>
          </a:prstGeom>
          <a:solidFill>
            <a:srgbClr val="FA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 wrap="square"/>
          <a:lstStyle/>
          <a:p>
            <a:pPr algn="ctr">
              <a:lnSpc>
                <a:spcPct val="95000"/>
              </a:lnSpc>
            </a:pPr>
            <a:r>
              <a:rPr sz="750" b="0" i="0">
                <a:solidFill>
                  <a:srgbClr val="212B36"/>
                </a:solidFill>
                <a:latin typeface="Calibri"/>
              </a:rPr>
              <a:t>Radiation Safety Technician(s) — Medical &amp; Industrial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424502" y="1810512"/>
            <a:ext cx="20116" cy="73152"/>
          </a:xfrm>
          <a:prstGeom prst="rect">
            <a:avLst/>
          </a:prstGeom>
          <a:solidFill>
            <a:srgbClr val="9A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061475" y="1883664"/>
            <a:ext cx="2746171" cy="42062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Assistant Director, WRU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180347" y="2304288"/>
            <a:ext cx="18288" cy="16459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180347" y="2570378"/>
            <a:ext cx="155448" cy="16459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335795" y="2432304"/>
            <a:ext cx="2471851" cy="292608"/>
          </a:xfrm>
          <a:prstGeom prst="rect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 wrap="square"/>
          <a:lstStyle/>
          <a:p>
            <a:pPr algn="ctr">
              <a:lnSpc>
                <a:spcPct val="95000"/>
              </a:lnSpc>
            </a:pPr>
            <a:r>
              <a:rPr sz="750" b="0" i="0">
                <a:solidFill>
                  <a:srgbClr val="212B36"/>
                </a:solidFill>
                <a:latin typeface="Calibri"/>
              </a:rPr>
              <a:t>Senior Waste Supervisor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180347" y="2913278"/>
            <a:ext cx="155448" cy="16459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335795" y="2775204"/>
            <a:ext cx="2471851" cy="292608"/>
          </a:xfrm>
          <a:prstGeom prst="rect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 wrap="square"/>
          <a:lstStyle/>
          <a:p>
            <a:pPr algn="ctr">
              <a:lnSpc>
                <a:spcPct val="95000"/>
              </a:lnSpc>
            </a:pPr>
            <a:r>
              <a:rPr sz="750" b="0" i="0">
                <a:solidFill>
                  <a:srgbClr val="212B36"/>
                </a:solidFill>
                <a:latin typeface="Calibri"/>
              </a:rPr>
              <a:t>Waste Analyst(s)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80347" y="3256178"/>
            <a:ext cx="155448" cy="16459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335795" y="3118104"/>
            <a:ext cx="2471851" cy="292608"/>
          </a:xfrm>
          <a:prstGeom prst="rect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 wrap="square"/>
          <a:lstStyle/>
          <a:p>
            <a:pPr algn="ctr">
              <a:lnSpc>
                <a:spcPct val="95000"/>
              </a:lnSpc>
            </a:pPr>
            <a:r>
              <a:rPr sz="750" b="0" i="0">
                <a:solidFill>
                  <a:srgbClr val="212B36"/>
                </a:solidFill>
                <a:latin typeface="Calibri"/>
              </a:rPr>
              <a:t>Senior Waste Remediation Supervisor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180347" y="3599078"/>
            <a:ext cx="155448" cy="16459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335795" y="3461004"/>
            <a:ext cx="2471851" cy="292608"/>
          </a:xfrm>
          <a:prstGeom prst="rect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 wrap="square"/>
          <a:lstStyle/>
          <a:p>
            <a:pPr algn="ctr">
              <a:lnSpc>
                <a:spcPct val="95000"/>
              </a:lnSpc>
            </a:pPr>
            <a:r>
              <a:rPr sz="750" b="0" i="0">
                <a:solidFill>
                  <a:srgbClr val="212B36"/>
                </a:solidFill>
                <a:latin typeface="Calibri"/>
              </a:rPr>
              <a:t>Waste Remediation Analyst(s)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180347" y="3941978"/>
            <a:ext cx="155448" cy="16459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335795" y="3803904"/>
            <a:ext cx="2471851" cy="292608"/>
          </a:xfrm>
          <a:prstGeom prst="rect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 wrap="square"/>
          <a:lstStyle/>
          <a:p>
            <a:pPr algn="ctr">
              <a:lnSpc>
                <a:spcPct val="95000"/>
              </a:lnSpc>
            </a:pPr>
            <a:r>
              <a:rPr sz="750" b="0" i="0">
                <a:solidFill>
                  <a:srgbClr val="212B36"/>
                </a:solidFill>
                <a:latin typeface="Calibri"/>
              </a:rPr>
              <a:t>Environmental Quality &amp; Standard Analyst(s)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4048" y="6035040"/>
            <a:ext cx="1142359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12B36"/>
                </a:solidFill>
                <a:latin typeface="Calibri"/>
              </a:rPr>
              <a:t>Colour coding (per ToR organogram): </a:t>
            </a:r>
            <a:r>
              <a:rPr sz="900" b="0" i="0">
                <a:solidFill>
                  <a:srgbClr val="33414E"/>
                </a:solidFill>
                <a:latin typeface="Calibri"/>
              </a:rPr>
              <a:t>green = occupied position  ·  black = vacant position  ·  orange = staff available but pending re-classification.   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"(s)" indicates multiple establishment slots.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1142359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24A2C"/>
                </a:solidFill>
                <a:latin typeface="Calibri"/>
              </a:rPr>
              <a:t>WORKING AS ONE DEPARTMENT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502920"/>
            <a:ext cx="1142359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24A2C"/>
                </a:solidFill>
                <a:latin typeface="Calibri"/>
              </a:rPr>
              <a:t>Inter-Unit Collaboration &amp; Cross-Functional Responsibilities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042415"/>
            <a:ext cx="11423599" cy="25603"/>
          </a:xfrm>
          <a:prstGeom prst="rect">
            <a:avLst/>
          </a:prstGeom>
          <a:solidFill>
            <a:srgbClr val="124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6519672"/>
            <a:ext cx="11423599" cy="10972"/>
          </a:xfrm>
          <a:prstGeom prst="rect">
            <a:avLst/>
          </a:prstGeom>
          <a:solidFill>
            <a:srgbClr val="D6D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74536"/>
            <a:ext cx="9601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Environmental Research and Radiation Safety Department  |  Comprehensive Terms of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76127" y="657453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261872"/>
            <a:ext cx="114235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1">
                <a:solidFill>
                  <a:srgbClr val="6B7280"/>
                </a:solidFill>
                <a:latin typeface="Calibri"/>
              </a:rPr>
              <a:t>The effectiveness of ERRS relies on seamless collaboration and integrated efforts across its specialized units — many environmental challenges require a multi-disciplinary approach.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810512"/>
            <a:ext cx="5602071" cy="1024128"/>
          </a:xfrm>
          <a:prstGeom prst="rect">
            <a:avLst/>
          </a:prstGeom>
          <a:solidFill>
            <a:srgbClr val="E9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2064" y="2066543"/>
            <a:ext cx="457200" cy="457200"/>
          </a:xfrm>
          <a:prstGeom prst="ellipse">
            <a:avLst/>
          </a:prstGeom>
          <a:solidFill>
            <a:srgbClr val="124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1892807"/>
            <a:ext cx="470595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24A2C"/>
                </a:solidFill>
                <a:latin typeface="Calibri"/>
              </a:rPr>
              <a:t>Joint Research Initiatives</a:t>
            </a:r>
          </a:p>
          <a:p>
            <a:pPr algn="l">
              <a:lnSpc>
                <a:spcPct val="102000"/>
              </a:lnSpc>
            </a:pPr>
            <a:r>
              <a:rPr sz="880" b="0" i="0">
                <a:solidFill>
                  <a:srgbClr val="33414E"/>
                </a:solidFill>
                <a:latin typeface="Calibri"/>
              </a:rPr>
              <a:t>Cross-domain research projects — e.g., impacts of chemical waste on water quality, or remediation of sites contaminated with both chemical and radioactive materials — with shared methodologies, data collection and analysis.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05575" y="1810512"/>
            <a:ext cx="5602071" cy="1024128"/>
          </a:xfrm>
          <a:prstGeom prst="rect">
            <a:avLst/>
          </a:prstGeom>
          <a:solidFill>
            <a:srgbClr val="E9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33591" y="2066543"/>
            <a:ext cx="457200" cy="457200"/>
          </a:xfrm>
          <a:prstGeom prst="ellipse">
            <a:avLst/>
          </a:prstGeom>
          <a:solidFill>
            <a:srgbClr val="124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5383" y="1892807"/>
            <a:ext cx="470595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24A2C"/>
                </a:solidFill>
                <a:latin typeface="Calibri"/>
              </a:rPr>
              <a:t>Information &amp; Data Sharing</a:t>
            </a:r>
          </a:p>
          <a:p>
            <a:pPr algn="l">
              <a:lnSpc>
                <a:spcPct val="102000"/>
              </a:lnSpc>
            </a:pPr>
            <a:r>
              <a:rPr sz="880" b="0" i="0">
                <a:solidFill>
                  <a:srgbClr val="33414E"/>
                </a:solidFill>
                <a:latin typeface="Calibri"/>
              </a:rPr>
              <a:t>Regular exchange of data, reports and findings between units through a centralized data management system, enabling holistic understanding and comprehensive risk assessments.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2962656"/>
            <a:ext cx="5602071" cy="1024128"/>
          </a:xfrm>
          <a:prstGeom prst="rect">
            <a:avLst/>
          </a:prstGeom>
          <a:solidFill>
            <a:srgbClr val="E9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12064" y="3218688"/>
            <a:ext cx="457200" cy="457200"/>
          </a:xfrm>
          <a:prstGeom prst="ellipse">
            <a:avLst/>
          </a:prstGeom>
          <a:solidFill>
            <a:srgbClr val="124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" y="3044952"/>
            <a:ext cx="470595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24A2C"/>
                </a:solidFill>
                <a:latin typeface="Calibri"/>
              </a:rPr>
              <a:t>Emergency Response Coordination</a:t>
            </a:r>
          </a:p>
          <a:p>
            <a:pPr algn="l">
              <a:lnSpc>
                <a:spcPct val="102000"/>
              </a:lnSpc>
            </a:pPr>
            <a:r>
              <a:rPr sz="880" b="0" i="0">
                <a:solidFill>
                  <a:srgbClr val="33414E"/>
                </a:solidFill>
                <a:latin typeface="Calibri"/>
              </a:rPr>
              <a:t>Coordinated response to environmental emergencies — chemical spills, radiation incidents, hazardous waste leaks — leveraging each unit’s specialized expertise for a rapid, effective and safe resolution.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5575" y="2962656"/>
            <a:ext cx="5602071" cy="1024128"/>
          </a:xfrm>
          <a:prstGeom prst="rect">
            <a:avLst/>
          </a:prstGeom>
          <a:solidFill>
            <a:srgbClr val="E9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33591" y="3218688"/>
            <a:ext cx="457200" cy="457200"/>
          </a:xfrm>
          <a:prstGeom prst="ellipse">
            <a:avLst/>
          </a:prstGeom>
          <a:solidFill>
            <a:srgbClr val="124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5383" y="3044952"/>
            <a:ext cx="470595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24A2C"/>
                </a:solidFill>
                <a:latin typeface="Calibri"/>
              </a:rPr>
              <a:t>Policy &amp; Standard Development</a:t>
            </a:r>
          </a:p>
          <a:p>
            <a:pPr algn="l">
              <a:lnSpc>
                <a:spcPct val="102000"/>
              </a:lnSpc>
            </a:pPr>
            <a:r>
              <a:rPr sz="880" b="0" i="0">
                <a:solidFill>
                  <a:srgbClr val="33414E"/>
                </a:solidFill>
                <a:latin typeface="Calibri"/>
              </a:rPr>
              <a:t>Integrated environmental policies, regulations and standards that address cross-cutting issues, so guidelines in one area consider implications for the others.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4114800"/>
            <a:ext cx="5602071" cy="1024128"/>
          </a:xfrm>
          <a:prstGeom prst="rect">
            <a:avLst/>
          </a:prstGeom>
          <a:solidFill>
            <a:srgbClr val="E9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2064" y="4370832"/>
            <a:ext cx="457200" cy="457200"/>
          </a:xfrm>
          <a:prstGeom prst="ellipse">
            <a:avLst/>
          </a:prstGeom>
          <a:solidFill>
            <a:srgbClr val="124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" y="4197096"/>
            <a:ext cx="470595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24A2C"/>
                </a:solidFill>
                <a:latin typeface="Calibri"/>
              </a:rPr>
              <a:t>Training &amp; Capacity Building</a:t>
            </a:r>
          </a:p>
          <a:p>
            <a:pPr algn="l">
              <a:lnSpc>
                <a:spcPct val="102000"/>
              </a:lnSpc>
            </a:pPr>
            <a:r>
              <a:rPr sz="880" b="0" i="0">
                <a:solidFill>
                  <a:srgbClr val="33414E"/>
                </a:solidFill>
                <a:latin typeface="Calibri"/>
              </a:rPr>
              <a:t>Cross-training, joint workshops and seminars, and sharing of best practices in laboratory analysis, field sampling and regulatory enforcement.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05575" y="4114800"/>
            <a:ext cx="5602071" cy="1024128"/>
          </a:xfrm>
          <a:prstGeom prst="rect">
            <a:avLst/>
          </a:prstGeom>
          <a:solidFill>
            <a:srgbClr val="E9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33591" y="4370832"/>
            <a:ext cx="457200" cy="457200"/>
          </a:xfrm>
          <a:prstGeom prst="ellipse">
            <a:avLst/>
          </a:prstGeom>
          <a:solidFill>
            <a:srgbClr val="124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55383" y="4197096"/>
            <a:ext cx="470595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24A2C"/>
                </a:solidFill>
                <a:latin typeface="Calibri"/>
              </a:rPr>
              <a:t>Joint Monitoring &amp; Audits</a:t>
            </a:r>
          </a:p>
          <a:p>
            <a:pPr algn="l">
              <a:lnSpc>
                <a:spcPct val="102000"/>
              </a:lnSpc>
            </a:pPr>
            <a:r>
              <a:rPr sz="880" b="0" i="0">
                <a:solidFill>
                  <a:srgbClr val="33414E"/>
                </a:solidFill>
                <a:latin typeface="Calibri"/>
              </a:rPr>
              <a:t>Joint monitoring and audits of facilities involving multiple environmental aspects — e.g., industrial facilities handling chemicals and generating waste, or medical facilities using radiation and managing biomedical waste.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5266944"/>
            <a:ext cx="5602071" cy="1024128"/>
          </a:xfrm>
          <a:prstGeom prst="rect">
            <a:avLst/>
          </a:prstGeom>
          <a:solidFill>
            <a:srgbClr val="E9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2064" y="5522976"/>
            <a:ext cx="457200" cy="457200"/>
          </a:xfrm>
          <a:prstGeom prst="ellipse">
            <a:avLst/>
          </a:prstGeom>
          <a:solidFill>
            <a:srgbClr val="124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" y="5349240"/>
            <a:ext cx="470595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24A2C"/>
                </a:solidFill>
                <a:latin typeface="Calibri"/>
              </a:rPr>
              <a:t>Public Awareness &amp; Outreach</a:t>
            </a:r>
          </a:p>
          <a:p>
            <a:pPr algn="l">
              <a:lnSpc>
                <a:spcPct val="102000"/>
              </a:lnSpc>
            </a:pPr>
            <a:r>
              <a:rPr sz="880" b="0" i="0">
                <a:solidFill>
                  <a:srgbClr val="33414E"/>
                </a:solidFill>
                <a:latin typeface="Calibri"/>
              </a:rPr>
              <a:t>Collaborative education of the public and stakeholders on integrated environmental issues, promoting awareness of risks and sustainable practices — in collaboration with the Inter-Sectorial and Coordination Department.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1142359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24A2C"/>
                </a:solidFill>
                <a:latin typeface="Calibri"/>
              </a:rPr>
              <a:t>LEADERSHIP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502920"/>
            <a:ext cx="1142359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24A2C"/>
                </a:solidFill>
                <a:latin typeface="Calibri"/>
              </a:rPr>
              <a:t>Office of the Director, ERRS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042415"/>
            <a:ext cx="11423599" cy="25603"/>
          </a:xfrm>
          <a:prstGeom prst="rect">
            <a:avLst/>
          </a:prstGeom>
          <a:solidFill>
            <a:srgbClr val="124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6519672"/>
            <a:ext cx="11423599" cy="10972"/>
          </a:xfrm>
          <a:prstGeom prst="rect">
            <a:avLst/>
          </a:prstGeom>
          <a:solidFill>
            <a:srgbClr val="D6D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74536"/>
            <a:ext cx="9601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Environmental Research and Radiation Safety Department  |  Comprehensive Terms of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76127" y="657453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32588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  <a:latin typeface="Calibri"/>
              </a:rPr>
              <a:t>Reports to:  </a:t>
            </a:r>
            <a:r>
              <a:rPr sz="1200" b="1" i="0">
                <a:solidFill>
                  <a:srgbClr val="124A2C"/>
                </a:solidFill>
                <a:latin typeface="Calibri"/>
              </a:rPr>
              <a:t>Executive Director, Environmental Protection Agency of Liberia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783080"/>
            <a:ext cx="68580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124A2C"/>
                </a:solidFill>
                <a:latin typeface="Calibri"/>
              </a:rPr>
              <a:t>Responsibilities and duties</a:t>
            </a:r>
          </a:p>
          <a:p>
            <a:pPr algn="l" marL="173736" indent="-173736">
              <a:lnSpc>
                <a:spcPct val="110000"/>
              </a:lnSpc>
              <a:spcAft>
                <a:spcPts val="1100"/>
              </a:spcAft>
              <a:buClr>
                <a:srgbClr val="1E7A43"/>
              </a:buClr>
              <a:buFont typeface="Calibri"/>
              <a:buChar char="▪"/>
            </a:pPr>
            <a:r>
              <a:rPr sz="1200" b="0" i="0">
                <a:solidFill>
                  <a:srgbClr val="33414E"/>
                </a:solidFill>
                <a:latin typeface="Calibri"/>
              </a:rPr>
              <a:t>Supervises the activities of all units in the department</a:t>
            </a:r>
          </a:p>
          <a:p>
            <a:pPr algn="l" marL="173736" indent="-173736">
              <a:lnSpc>
                <a:spcPct val="110000"/>
              </a:lnSpc>
              <a:spcAft>
                <a:spcPts val="1100"/>
              </a:spcAft>
              <a:buClr>
                <a:srgbClr val="1E7A43"/>
              </a:buClr>
              <a:buFont typeface="Calibri"/>
              <a:buChar char="▪"/>
            </a:pPr>
            <a:r>
              <a:rPr sz="1200" b="0" i="0">
                <a:solidFill>
                  <a:srgbClr val="33414E"/>
                </a:solidFill>
                <a:latin typeface="Calibri"/>
              </a:rPr>
              <a:t>Represents the department at senior management team meetings</a:t>
            </a:r>
          </a:p>
          <a:p>
            <a:pPr algn="l" marL="173736" indent="-173736">
              <a:lnSpc>
                <a:spcPct val="110000"/>
              </a:lnSpc>
              <a:spcAft>
                <a:spcPts val="1100"/>
              </a:spcAft>
              <a:buClr>
                <a:srgbClr val="1E7A43"/>
              </a:buClr>
              <a:buFont typeface="Calibri"/>
              <a:buChar char="▪"/>
            </a:pPr>
            <a:r>
              <a:rPr sz="1200" b="0" i="0">
                <a:solidFill>
                  <a:srgbClr val="33414E"/>
                </a:solidFill>
                <a:latin typeface="Calibri"/>
              </a:rPr>
              <a:t>Serves as the principal scientist at the EPA</a:t>
            </a:r>
          </a:p>
          <a:p>
            <a:pPr algn="l" marL="173736" indent="-173736">
              <a:lnSpc>
                <a:spcPct val="110000"/>
              </a:lnSpc>
              <a:spcAft>
                <a:spcPts val="1100"/>
              </a:spcAft>
              <a:buClr>
                <a:srgbClr val="1E7A43"/>
              </a:buClr>
              <a:buFont typeface="Calibri"/>
              <a:buChar char="▪"/>
            </a:pPr>
            <a:r>
              <a:rPr sz="1200" b="0" i="0">
                <a:solidFill>
                  <a:srgbClr val="33414E"/>
                </a:solidFill>
                <a:latin typeface="Calibri"/>
              </a:rPr>
              <a:t>Represents the department at local and international stakeholder meetings</a:t>
            </a:r>
          </a:p>
          <a:p>
            <a:pPr algn="l" marL="173736" indent="-173736">
              <a:lnSpc>
                <a:spcPct val="110000"/>
              </a:lnSpc>
              <a:spcAft>
                <a:spcPts val="1100"/>
              </a:spcAft>
              <a:buClr>
                <a:srgbClr val="1E7A43"/>
              </a:buClr>
              <a:buFont typeface="Calibri"/>
              <a:buChar char="▪"/>
            </a:pPr>
            <a:r>
              <a:rPr sz="1200" b="0" i="0">
                <a:solidFill>
                  <a:srgbClr val="33414E"/>
                </a:solidFill>
                <a:latin typeface="Calibri"/>
              </a:rPr>
              <a:t>Approves all environmental laboratory analysis results</a:t>
            </a:r>
          </a:p>
          <a:p>
            <a:pPr algn="l" marL="173736" indent="-173736">
              <a:lnSpc>
                <a:spcPct val="110000"/>
              </a:lnSpc>
              <a:spcAft>
                <a:spcPts val="1100"/>
              </a:spcAft>
              <a:buClr>
                <a:srgbClr val="1E7A43"/>
              </a:buClr>
              <a:buFont typeface="Calibri"/>
              <a:buChar char="▪"/>
            </a:pPr>
            <a:r>
              <a:rPr sz="1200" b="0" i="0">
                <a:solidFill>
                  <a:srgbClr val="33414E"/>
                </a:solidFill>
                <a:latin typeface="Calibri"/>
              </a:rPr>
              <a:t>Approves all waste remediation plans</a:t>
            </a:r>
          </a:p>
          <a:p>
            <a:pPr algn="l" marL="173736" indent="-173736">
              <a:lnSpc>
                <a:spcPct val="110000"/>
              </a:lnSpc>
              <a:spcAft>
                <a:spcPts val="1100"/>
              </a:spcAft>
              <a:buClr>
                <a:srgbClr val="1E7A43"/>
              </a:buClr>
              <a:buFont typeface="Calibri"/>
              <a:buChar char="▪"/>
            </a:pPr>
            <a:r>
              <a:rPr sz="1200" b="0" i="0">
                <a:solidFill>
                  <a:srgbClr val="33414E"/>
                </a:solidFill>
                <a:latin typeface="Calibri"/>
              </a:rPr>
              <a:t>Reviews all licenses before submission for executive approval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1325880"/>
            <a:ext cx="4218127" cy="1920240"/>
          </a:xfrm>
          <a:prstGeom prst="rect">
            <a:avLst/>
          </a:prstGeom>
          <a:solidFill>
            <a:srgbClr val="124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600200"/>
            <a:ext cx="3669487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MINIMUM QUALIFICATION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Research Master’s degree (MRes or MPhil) in Environmental Science, Chemistry, Chemical Engineering, Environmental Engineering or a related field.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3429000"/>
            <a:ext cx="4218127" cy="1234440"/>
          </a:xfrm>
          <a:prstGeom prst="rect">
            <a:avLst/>
          </a:prstGeom>
          <a:solidFill>
            <a:srgbClr val="E9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3639312"/>
            <a:ext cx="366948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124A2C"/>
                </a:solidFill>
                <a:latin typeface="Calibri"/>
              </a:rPr>
              <a:t>EXPERIENCE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12B36"/>
                </a:solidFill>
                <a:latin typeface="Calibri"/>
              </a:rPr>
              <a:t>At least 10 years of progressive experience in chemical or environmental management.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4892040"/>
            <a:ext cx="4218127" cy="1371600"/>
          </a:xfrm>
          <a:prstGeom prst="rect">
            <a:avLst/>
          </a:prstGeom>
          <a:solidFill>
            <a:srgbClr val="FFFFFF"/>
          </a:solidFill>
          <a:ln w="17780">
            <a:solidFill>
              <a:srgbClr val="1E7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5074920"/>
            <a:ext cx="366948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1E7A43"/>
                </a:solidFill>
                <a:latin typeface="Calibri"/>
              </a:rPr>
              <a:t>THE PRINCIPAL SCIENTIST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33414E"/>
                </a:solidFill>
                <a:latin typeface="Calibri"/>
              </a:rPr>
              <a:t>The Director is the EPA’s chief scientific authority — the final departmental checkpoint for laboratory results, remediation plans and every license before executive approval.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1142359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D4ED8"/>
                </a:solidFill>
                <a:latin typeface="Calibri"/>
              </a:rPr>
              <a:t>CHEMICAL MANAGEMENT UNIT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502920"/>
            <a:ext cx="1142359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24A2C"/>
                </a:solidFill>
                <a:latin typeface="Calibri"/>
              </a:rPr>
              <a:t>CMU — Mandate &amp; Functions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042415"/>
            <a:ext cx="11423599" cy="25603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6519672"/>
            <a:ext cx="11423599" cy="10972"/>
          </a:xfrm>
          <a:prstGeom prst="rect">
            <a:avLst/>
          </a:prstGeom>
          <a:solidFill>
            <a:srgbClr val="D6D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74536"/>
            <a:ext cx="9601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Environmental Research and Radiation Safety Department  |  Comprehensive Terms of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76127" y="657453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298448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  <a:latin typeface="Calibri"/>
              </a:rPr>
              <a:t>MANDATE &amp; FUNCTIONS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755648"/>
            <a:ext cx="667512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3736" indent="-173736">
              <a:lnSpc>
                <a:spcPct val="112000"/>
              </a:lnSpc>
              <a:spcAft>
                <a:spcPts val="1200"/>
              </a:spcAft>
              <a:buClr>
                <a:srgbClr val="1D4ED8"/>
              </a:buClr>
              <a:buFont typeface="Calibri"/>
              <a:buChar char="▪"/>
            </a:pPr>
            <a:r>
              <a:rPr sz="1150" b="0" i="0">
                <a:solidFill>
                  <a:srgbClr val="33414E"/>
                </a:solidFill>
                <a:latin typeface="Calibri"/>
              </a:rPr>
              <a:t>Monitors the proper handling, storage, use and disposal of chemicals throughout Liberia</a:t>
            </a:r>
          </a:p>
          <a:p>
            <a:pPr algn="l" marL="173736" indent="-173736">
              <a:lnSpc>
                <a:spcPct val="112000"/>
              </a:lnSpc>
              <a:spcAft>
                <a:spcPts val="1200"/>
              </a:spcAft>
              <a:buClr>
                <a:srgbClr val="1D4ED8"/>
              </a:buClr>
              <a:buFont typeface="Calibri"/>
              <a:buChar char="▪"/>
            </a:pPr>
            <a:r>
              <a:rPr sz="1150" b="0" i="0">
                <a:solidFill>
                  <a:srgbClr val="33414E"/>
                </a:solidFill>
                <a:latin typeface="Calibri"/>
              </a:rPr>
              <a:t>Maintains the national chemical inventory and the pollution registry</a:t>
            </a:r>
          </a:p>
          <a:p>
            <a:pPr algn="l" marL="173736" indent="-173736">
              <a:lnSpc>
                <a:spcPct val="112000"/>
              </a:lnSpc>
              <a:spcAft>
                <a:spcPts val="1200"/>
              </a:spcAft>
              <a:buClr>
                <a:srgbClr val="1D4ED8"/>
              </a:buClr>
              <a:buFont typeface="Calibri"/>
              <a:buChar char="▪"/>
            </a:pPr>
            <a:r>
              <a:rPr sz="1150" b="0" i="0">
                <a:solidFill>
                  <a:srgbClr val="33414E"/>
                </a:solidFill>
                <a:latin typeface="Calibri"/>
              </a:rPr>
              <a:t>Issues licenses for chemical importation, registration and disposal; monitors wastewater (effluent) discharge</a:t>
            </a:r>
          </a:p>
          <a:p>
            <a:pPr algn="l" marL="173736" indent="-173736">
              <a:lnSpc>
                <a:spcPct val="112000"/>
              </a:lnSpc>
              <a:spcAft>
                <a:spcPts val="1200"/>
              </a:spcAft>
              <a:buClr>
                <a:srgbClr val="1D4ED8"/>
              </a:buClr>
              <a:buFont typeface="Calibri"/>
              <a:buChar char="▪"/>
            </a:pPr>
            <a:r>
              <a:rPr sz="1150" b="0" i="0">
                <a:solidFill>
                  <a:srgbClr val="33414E"/>
                </a:solidFill>
                <a:latin typeface="Calibri"/>
              </a:rPr>
              <a:t>Conducts monitoring of chemical storage facilities and laboratories</a:t>
            </a:r>
          </a:p>
          <a:p>
            <a:pPr algn="l" marL="173736" indent="-173736">
              <a:lnSpc>
                <a:spcPct val="112000"/>
              </a:lnSpc>
              <a:spcAft>
                <a:spcPts val="1200"/>
              </a:spcAft>
              <a:buClr>
                <a:srgbClr val="1D4ED8"/>
              </a:buClr>
              <a:buFont typeface="Calibri"/>
              <a:buChar char="▪"/>
            </a:pPr>
            <a:r>
              <a:rPr sz="1150" b="0" i="0">
                <a:solidFill>
                  <a:srgbClr val="33414E"/>
                </a:solidFill>
                <a:latin typeface="Calibri"/>
              </a:rPr>
              <a:t>Organizes training programs on chemical safety</a:t>
            </a:r>
          </a:p>
          <a:p>
            <a:pPr algn="l" marL="173736" indent="-173736">
              <a:lnSpc>
                <a:spcPct val="112000"/>
              </a:lnSpc>
              <a:spcAft>
                <a:spcPts val="1200"/>
              </a:spcAft>
              <a:buClr>
                <a:srgbClr val="1D4ED8"/>
              </a:buClr>
              <a:buFont typeface="Calibri"/>
              <a:buChar char="▪"/>
            </a:pPr>
            <a:r>
              <a:rPr sz="1150" b="0" i="0">
                <a:solidFill>
                  <a:srgbClr val="33414E"/>
                </a:solidFill>
                <a:latin typeface="Calibri"/>
              </a:rPr>
              <a:t>Supports emergency response to chemical accidents</a:t>
            </a:r>
          </a:p>
          <a:p>
            <a:pPr algn="l" marL="173736" indent="-173736">
              <a:lnSpc>
                <a:spcPct val="112000"/>
              </a:lnSpc>
              <a:spcAft>
                <a:spcPts val="1200"/>
              </a:spcAft>
              <a:buClr>
                <a:srgbClr val="1D4ED8"/>
              </a:buClr>
              <a:buFont typeface="Calibri"/>
              <a:buChar char="▪"/>
            </a:pPr>
            <a:r>
              <a:rPr sz="1150" b="0" i="0">
                <a:solidFill>
                  <a:srgbClr val="33414E"/>
                </a:solidFill>
                <a:latin typeface="Calibri"/>
              </a:rPr>
              <a:t>Works to reduce chemical pollution and ensure compliance with national and international safety requirements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06056" y="1298448"/>
            <a:ext cx="4501591" cy="4892040"/>
          </a:xfrm>
          <a:prstGeom prst="rect">
            <a:avLst/>
          </a:prstGeom>
          <a:solidFill>
            <a:srgbClr val="E9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06056" y="1298448"/>
            <a:ext cx="4501591" cy="3840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88936" y="1371600"/>
            <a:ext cx="41358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ASSISTANT DIRECTOR — KEY RESPONSIBILITIES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07224" y="1847088"/>
            <a:ext cx="4099255" cy="4251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3736" indent="-173736">
              <a:lnSpc>
                <a:spcPct val="108000"/>
              </a:lnSpc>
              <a:spcAft>
                <a:spcPts val="900"/>
              </a:spcAft>
              <a:buClr>
                <a:srgbClr val="1D4ED8"/>
              </a:buClr>
              <a:buFont typeface="Calibri"/>
              <a:buChar char="▪"/>
            </a:pPr>
            <a:r>
              <a:rPr sz="1030" b="0" i="0">
                <a:solidFill>
                  <a:srgbClr val="33414E"/>
                </a:solidFill>
                <a:latin typeface="Calibri"/>
              </a:rPr>
              <a:t>Inventory management of chemicals — procurement, tracking and disposal</a:t>
            </a:r>
          </a:p>
          <a:p>
            <a:pPr algn="l" marL="173736" indent="-173736">
              <a:lnSpc>
                <a:spcPct val="108000"/>
              </a:lnSpc>
              <a:spcAft>
                <a:spcPts val="900"/>
              </a:spcAft>
              <a:buClr>
                <a:srgbClr val="1D4ED8"/>
              </a:buClr>
              <a:buFont typeface="Calibri"/>
              <a:buChar char="▪"/>
            </a:pPr>
            <a:r>
              <a:rPr sz="1030" b="0" i="0">
                <a:solidFill>
                  <a:srgbClr val="33414E"/>
                </a:solidFill>
                <a:latin typeface="Calibri"/>
              </a:rPr>
              <a:t>Develops and implements the chemical safety policy; applies national and international standards</a:t>
            </a:r>
          </a:p>
          <a:p>
            <a:pPr algn="l" marL="173736" indent="-173736">
              <a:lnSpc>
                <a:spcPct val="108000"/>
              </a:lnSpc>
              <a:spcAft>
                <a:spcPts val="900"/>
              </a:spcAft>
              <a:buClr>
                <a:srgbClr val="1D4ED8"/>
              </a:buClr>
              <a:buFont typeface="Calibri"/>
              <a:buChar char="▪"/>
            </a:pPr>
            <a:r>
              <a:rPr sz="1030" b="0" i="0">
                <a:solidFill>
                  <a:srgbClr val="33414E"/>
                </a:solidFill>
                <a:latin typeface="Calibri"/>
              </a:rPr>
              <a:t>Monitors chemical storage facilities and laboratories; conducts risk assessments and audits</a:t>
            </a:r>
          </a:p>
          <a:p>
            <a:pPr algn="l" marL="173736" indent="-173736">
              <a:lnSpc>
                <a:spcPct val="108000"/>
              </a:lnSpc>
              <a:spcAft>
                <a:spcPts val="900"/>
              </a:spcAft>
              <a:buClr>
                <a:srgbClr val="1D4ED8"/>
              </a:buClr>
              <a:buFont typeface="Calibri"/>
              <a:buChar char="▪"/>
            </a:pPr>
            <a:r>
              <a:rPr sz="1030" b="0" i="0">
                <a:solidFill>
                  <a:srgbClr val="33414E"/>
                </a:solidFill>
                <a:latin typeface="Calibri"/>
              </a:rPr>
              <a:t>Conducts research on chemical safety and pollution prevention</a:t>
            </a:r>
          </a:p>
          <a:p>
            <a:pPr algn="l" marL="173736" indent="-173736">
              <a:lnSpc>
                <a:spcPct val="108000"/>
              </a:lnSpc>
              <a:spcAft>
                <a:spcPts val="900"/>
              </a:spcAft>
              <a:buClr>
                <a:srgbClr val="1D4ED8"/>
              </a:buClr>
              <a:buFont typeface="Calibri"/>
              <a:buChar char="▪"/>
            </a:pPr>
            <a:r>
              <a:rPr sz="1030" b="0" i="0">
                <a:solidFill>
                  <a:srgbClr val="33414E"/>
                </a:solidFill>
                <a:latin typeface="Calibri"/>
              </a:rPr>
              <a:t>Coordinates hazardous waste disposal in an environmentally sound manner</a:t>
            </a:r>
          </a:p>
          <a:p>
            <a:pPr algn="l" marL="173736" indent="-173736">
              <a:lnSpc>
                <a:spcPct val="108000"/>
              </a:lnSpc>
              <a:spcAft>
                <a:spcPts val="900"/>
              </a:spcAft>
              <a:buClr>
                <a:srgbClr val="1D4ED8"/>
              </a:buClr>
              <a:buFont typeface="Calibri"/>
              <a:buChar char="▪"/>
            </a:pPr>
            <a:r>
              <a:rPr sz="1030" b="0" i="0">
                <a:solidFill>
                  <a:srgbClr val="33414E"/>
                </a:solidFill>
                <a:latin typeface="Calibri"/>
              </a:rPr>
              <a:t>Drafts effluent discharge licenses, chemical importation &amp; registration licenses, disposal certificates and laboratory accreditation licenses</a:t>
            </a:r>
          </a:p>
          <a:p>
            <a:pPr algn="l" marL="173736" indent="-173736">
              <a:lnSpc>
                <a:spcPct val="108000"/>
              </a:lnSpc>
              <a:spcAft>
                <a:spcPts val="900"/>
              </a:spcAft>
              <a:buClr>
                <a:srgbClr val="1D4ED8"/>
              </a:buClr>
              <a:buFont typeface="Calibri"/>
              <a:buChar char="▪"/>
            </a:pPr>
            <a:r>
              <a:rPr sz="1030" b="0" i="0">
                <a:solidFill>
                  <a:srgbClr val="33414E"/>
                </a:solidFill>
                <a:latin typeface="Calibri"/>
              </a:rPr>
              <a:t>Builds stakeholder collaboration, chemical-safety training and emergency response plans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1142359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D4ED8"/>
                </a:solidFill>
                <a:latin typeface="Calibri"/>
              </a:rPr>
              <a:t>CHEMICAL MANAGEMENT UNIT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502920"/>
            <a:ext cx="1142359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24A2C"/>
                </a:solidFill>
                <a:latin typeface="Calibri"/>
              </a:rPr>
              <a:t>CMU — Positions, Reporting Lines &amp; Qualifications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042415"/>
            <a:ext cx="11423599" cy="25603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6519672"/>
            <a:ext cx="11423599" cy="10972"/>
          </a:xfrm>
          <a:prstGeom prst="rect">
            <a:avLst/>
          </a:prstGeom>
          <a:solidFill>
            <a:srgbClr val="D6D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74536"/>
            <a:ext cx="9601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Environmental Research and Radiation Safety Department  |  Comprehensive Terms of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76127" y="657453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84048" y="1371600"/>
          <a:ext cx="11420856" cy="416966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88920"/>
                <a:gridCol w="2651760"/>
                <a:gridCol w="5980176"/>
              </a:tblGrid>
              <a:tr h="365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POSITION</a:t>
                      </a:r>
                    </a:p>
                  </a:txBody>
                  <a:tcPr anchor="ctr" marL="82296" marR="54864" marT="18288" marB="18288">
                    <a:solidFill>
                      <a:srgbClr val="1D4ED8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REPORTS TO</a:t>
                      </a:r>
                    </a:p>
                  </a:txBody>
                  <a:tcPr anchor="ctr" marL="82296" marR="54864" marT="18288" marB="18288">
                    <a:solidFill>
                      <a:srgbClr val="1D4ED8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MINIMUM QUALIFICATION &amp; EXPERIENCE</a:t>
                      </a:r>
                    </a:p>
                  </a:txBody>
                  <a:tcPr anchor="ctr" marL="82296" marR="54864" marT="18288" marB="18288">
                    <a:solidFill>
                      <a:srgbClr val="1D4ED8"/>
                    </a:solidFill>
                  </a:tcPr>
                </a:tc>
              </a:tr>
              <a:tr h="47548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212B36"/>
                          </a:solidFill>
                          <a:latin typeface="Calibri"/>
                        </a:rPr>
                        <a:t>Assistant Director, CMU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33414E"/>
                          </a:solidFill>
                          <a:latin typeface="Calibri"/>
                        </a:rPr>
                        <a:t>Director, ERRS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33414E"/>
                          </a:solidFill>
                          <a:latin typeface="Calibri"/>
                        </a:rPr>
                        <a:t>Master’s — Env. Science, Chemistry, Chem. Eng. or related · 5+ yrs progressive chemical / environmental management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212B36"/>
                          </a:solidFill>
                          <a:latin typeface="Calibri"/>
                        </a:rPr>
                        <a:t>Industrial Remediation Supervisor</a:t>
                      </a:r>
                    </a:p>
                  </a:txBody>
                  <a:tcPr anchor="ctr" marL="82296" marR="54864" marT="27432" marB="27432">
                    <a:solidFill>
                      <a:srgbClr val="E9EE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33414E"/>
                          </a:solidFill>
                          <a:latin typeface="Calibri"/>
                        </a:rPr>
                        <a:t>Asst. Director, CMU</a:t>
                      </a:r>
                    </a:p>
                  </a:txBody>
                  <a:tcPr anchor="ctr" marL="82296" marR="54864" marT="27432" marB="27432">
                    <a:solidFill>
                      <a:srgbClr val="E9EE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33414E"/>
                          </a:solidFill>
                          <a:latin typeface="Calibri"/>
                        </a:rPr>
                        <a:t>Master’s — Env. Engineering, Env. Science or related · 3+ yrs industrial remediation / pollution control</a:t>
                      </a:r>
                    </a:p>
                  </a:txBody>
                  <a:tcPr anchor="ctr" marL="82296" marR="54864" marT="27432" marB="27432">
                    <a:solidFill>
                      <a:srgbClr val="E9EEFB"/>
                    </a:solidFill>
                  </a:tcPr>
                </a:tc>
              </a:tr>
              <a:tr h="47548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212B36"/>
                          </a:solidFill>
                          <a:latin typeface="Calibri"/>
                        </a:rPr>
                        <a:t>Industrial Safety Analyst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33414E"/>
                          </a:solidFill>
                          <a:latin typeface="Calibri"/>
                        </a:rPr>
                        <a:t>Industrial Remediation Supervisor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33414E"/>
                          </a:solidFill>
                          <a:latin typeface="Calibri"/>
                        </a:rPr>
                        <a:t>Bachelor’s — Env. Science, Industrial Eng. or related · 2+ yrs; postgraduate diploma in industrial safety / OHS an advantage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212B36"/>
                          </a:solidFill>
                          <a:latin typeface="Calibri"/>
                        </a:rPr>
                        <a:t>Industrial Remediation Analyst</a:t>
                      </a:r>
                    </a:p>
                  </a:txBody>
                  <a:tcPr anchor="ctr" marL="82296" marR="54864" marT="27432" marB="27432">
                    <a:solidFill>
                      <a:srgbClr val="E9EE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33414E"/>
                          </a:solidFill>
                          <a:latin typeface="Calibri"/>
                        </a:rPr>
                        <a:t>Industrial Remediation Supervisor</a:t>
                      </a:r>
                    </a:p>
                  </a:txBody>
                  <a:tcPr anchor="ctr" marL="82296" marR="54864" marT="27432" marB="27432">
                    <a:solidFill>
                      <a:srgbClr val="E9EE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33414E"/>
                          </a:solidFill>
                          <a:latin typeface="Calibri"/>
                        </a:rPr>
                        <a:t>Bachelor’s — Env. Science / Eng., Industrial Chemistry, Geology or related · 2+ yrs; hazardous-waste / remediation certification preferred</a:t>
                      </a:r>
                    </a:p>
                  </a:txBody>
                  <a:tcPr anchor="ctr" marL="82296" marR="54864" marT="27432" marB="27432">
                    <a:solidFill>
                      <a:srgbClr val="E9EEFB"/>
                    </a:solidFill>
                  </a:tcPr>
                </a:tc>
              </a:tr>
              <a:tr h="47548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212B36"/>
                          </a:solidFill>
                          <a:latin typeface="Calibri"/>
                        </a:rPr>
                        <a:t>Chemical Remediation Supervisor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33414E"/>
                          </a:solidFill>
                          <a:latin typeface="Calibri"/>
                        </a:rPr>
                        <a:t>Asst. Director, CMU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33414E"/>
                          </a:solidFill>
                          <a:latin typeface="Calibri"/>
                        </a:rPr>
                        <a:t>Master’s — Env. Science, Chemistry or related · 3+ yrs chemical remediation / environmental monitoring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212B36"/>
                          </a:solidFill>
                          <a:latin typeface="Calibri"/>
                        </a:rPr>
                        <a:t>Chemical Safety Analyst</a:t>
                      </a:r>
                    </a:p>
                  </a:txBody>
                  <a:tcPr anchor="ctr" marL="82296" marR="54864" marT="27432" marB="27432">
                    <a:solidFill>
                      <a:srgbClr val="E9EE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33414E"/>
                          </a:solidFill>
                          <a:latin typeface="Calibri"/>
                        </a:rPr>
                        <a:t>Chemical Remediation Supervisor</a:t>
                      </a:r>
                    </a:p>
                  </a:txBody>
                  <a:tcPr anchor="ctr" marL="82296" marR="54864" marT="27432" marB="27432">
                    <a:solidFill>
                      <a:srgbClr val="E9EE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33414E"/>
                          </a:solidFill>
                          <a:latin typeface="Calibri"/>
                        </a:rPr>
                        <a:t>Bachelor’s — Chemistry, Env. Science, OHS, Chem. Eng. or related · 2+ yrs chemical safety / compliance; GHS &amp; MSDS competence</a:t>
                      </a:r>
                    </a:p>
                  </a:txBody>
                  <a:tcPr anchor="ctr" marL="82296" marR="54864" marT="27432" marB="27432">
                    <a:solidFill>
                      <a:srgbClr val="E9EEFB"/>
                    </a:solidFill>
                  </a:tcPr>
                </a:tc>
              </a:tr>
              <a:tr h="47548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212B36"/>
                          </a:solidFill>
                          <a:latin typeface="Calibri"/>
                        </a:rPr>
                        <a:t>Chemical Handlers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33414E"/>
                          </a:solidFill>
                          <a:latin typeface="Calibri"/>
                        </a:rPr>
                        <a:t>Chemical Remediation Supervisor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33414E"/>
                          </a:solidFill>
                          <a:latin typeface="Calibri"/>
                        </a:rPr>
                        <a:t>Bachelor’s — natural sciences, agriculture, forestry or engineering · chemical-handling / warehouse experience preferred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212B36"/>
                          </a:solidFill>
                          <a:latin typeface="Calibri"/>
                        </a:rPr>
                        <a:t>Pollution Registry Technician</a:t>
                      </a:r>
                    </a:p>
                  </a:txBody>
                  <a:tcPr anchor="ctr" marL="82296" marR="54864" marT="27432" marB="27432">
                    <a:solidFill>
                      <a:srgbClr val="E9EE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33414E"/>
                          </a:solidFill>
                          <a:latin typeface="Calibri"/>
                        </a:rPr>
                        <a:t>Chemical Remediation Supervisor</a:t>
                      </a:r>
                    </a:p>
                  </a:txBody>
                  <a:tcPr anchor="ctr" marL="82296" marR="54864" marT="27432" marB="27432">
                    <a:solidFill>
                      <a:srgbClr val="E9EE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33414E"/>
                          </a:solidFill>
                          <a:latin typeface="Calibri"/>
                        </a:rPr>
                        <a:t>Bachelor’s — Env. Science, Data Management or related · 2+ yrs data collection and management</a:t>
                      </a:r>
                    </a:p>
                  </a:txBody>
                  <a:tcPr anchor="ctr" marL="82296" marR="54864" marT="27432" marB="27432">
                    <a:solidFill>
                      <a:srgbClr val="E9EE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1142359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E746C"/>
                </a:solidFill>
                <a:latin typeface="Calibri"/>
              </a:rPr>
              <a:t>ENVIRONMENTAL MONITORING AND RESEARCH UNIT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502920"/>
            <a:ext cx="1142359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24A2C"/>
                </a:solidFill>
                <a:latin typeface="Calibri"/>
              </a:rPr>
              <a:t>EMR — Mandate &amp; Functions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042415"/>
            <a:ext cx="11423599" cy="25603"/>
          </a:xfrm>
          <a:prstGeom prst="rect">
            <a:avLst/>
          </a:prstGeom>
          <a:solidFill>
            <a:srgbClr val="0E7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6519672"/>
            <a:ext cx="11423599" cy="10972"/>
          </a:xfrm>
          <a:prstGeom prst="rect">
            <a:avLst/>
          </a:prstGeom>
          <a:solidFill>
            <a:srgbClr val="D6D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74536"/>
            <a:ext cx="9601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Environmental Research and Radiation Safety Department  |  Comprehensive Terms of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76127" y="657453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298448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E746C"/>
                </a:solidFill>
                <a:latin typeface="Calibri"/>
              </a:rPr>
              <a:t>MANDATE &amp; FUNCTIONS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755648"/>
            <a:ext cx="667512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3736" indent="-173736">
              <a:lnSpc>
                <a:spcPct val="112000"/>
              </a:lnSpc>
              <a:spcAft>
                <a:spcPts val="1200"/>
              </a:spcAft>
              <a:buClr>
                <a:srgbClr val="0E746C"/>
              </a:buClr>
              <a:buFont typeface="Calibri"/>
              <a:buChar char="▪"/>
            </a:pPr>
            <a:r>
              <a:rPr sz="1150" b="0" i="0">
                <a:solidFill>
                  <a:srgbClr val="33414E"/>
                </a:solidFill>
                <a:latin typeface="Calibri"/>
              </a:rPr>
              <a:t>Specialist division for systematic environmental monitoring and applied research across Liberia’s land and aquatic ecosystems</a:t>
            </a:r>
          </a:p>
          <a:p>
            <a:pPr algn="l" marL="173736" indent="-173736">
              <a:lnSpc>
                <a:spcPct val="112000"/>
              </a:lnSpc>
              <a:spcAft>
                <a:spcPts val="1200"/>
              </a:spcAft>
              <a:buClr>
                <a:srgbClr val="0E746C"/>
              </a:buClr>
              <a:buFont typeface="Calibri"/>
              <a:buChar char="▪"/>
            </a:pPr>
            <a:r>
              <a:rPr sz="1150" b="0" i="0">
                <a:solidFill>
                  <a:srgbClr val="33414E"/>
                </a:solidFill>
                <a:latin typeface="Calibri"/>
              </a:rPr>
              <a:t>Generates credible, science-based data to drive national policy, environmental impact assessments and regulatory enforcement</a:t>
            </a:r>
          </a:p>
          <a:p>
            <a:pPr algn="l" marL="173736" indent="-173736">
              <a:lnSpc>
                <a:spcPct val="112000"/>
              </a:lnSpc>
              <a:spcAft>
                <a:spcPts val="1200"/>
              </a:spcAft>
              <a:buClr>
                <a:srgbClr val="0E746C"/>
              </a:buClr>
              <a:buFont typeface="Calibri"/>
              <a:buChar char="▪"/>
            </a:pPr>
            <a:r>
              <a:rPr sz="1150" b="0" i="0">
                <a:solidFill>
                  <a:srgbClr val="33414E"/>
                </a:solidFill>
                <a:latin typeface="Calibri"/>
              </a:rPr>
              <a:t>Operates across key environmental media — air, water, soil, radiation and noise</a:t>
            </a:r>
          </a:p>
          <a:p>
            <a:pPr algn="l" marL="173736" indent="-173736">
              <a:lnSpc>
                <a:spcPct val="112000"/>
              </a:lnSpc>
              <a:spcAft>
                <a:spcPts val="1200"/>
              </a:spcAft>
              <a:buClr>
                <a:srgbClr val="0E746C"/>
              </a:buClr>
              <a:buFont typeface="Calibri"/>
              <a:buChar char="▪"/>
            </a:pPr>
            <a:r>
              <a:rPr sz="1150" b="0" i="0">
                <a:solidFill>
                  <a:srgbClr val="33414E"/>
                </a:solidFill>
                <a:latin typeface="Calibri"/>
              </a:rPr>
              <a:t>Delivers quick, accurate and actionable environmental intelligence through empirical research, quality-assured laboratory testing and field monitoring</a:t>
            </a:r>
          </a:p>
          <a:p>
            <a:pPr algn="l" marL="173736" indent="-173736">
              <a:lnSpc>
                <a:spcPct val="112000"/>
              </a:lnSpc>
              <a:spcAft>
                <a:spcPts val="1200"/>
              </a:spcAft>
              <a:buClr>
                <a:srgbClr val="0E746C"/>
              </a:buClr>
              <a:buFont typeface="Calibri"/>
              <a:buChar char="▪"/>
            </a:pPr>
            <a:r>
              <a:rPr sz="1150" b="0" i="0">
                <a:solidFill>
                  <a:srgbClr val="33414E"/>
                </a:solidFill>
                <a:latin typeface="Calibri"/>
              </a:rPr>
              <a:t>Three specialist streams: field monitoring, analytical laboratories, and data / quality assurance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06056" y="1298448"/>
            <a:ext cx="4501591" cy="4892040"/>
          </a:xfrm>
          <a:prstGeom prst="rect">
            <a:avLst/>
          </a:prstGeom>
          <a:solidFill>
            <a:srgbClr val="E5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06056" y="1298448"/>
            <a:ext cx="4501591" cy="384048"/>
          </a:xfrm>
          <a:prstGeom prst="rect">
            <a:avLst/>
          </a:prstGeom>
          <a:solidFill>
            <a:srgbClr val="0E7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88936" y="1371600"/>
            <a:ext cx="41358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ASSISTANT DIRECTOR — KEY RESPONSIBILITIES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07224" y="1847088"/>
            <a:ext cx="4099255" cy="4251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3736" indent="-173736">
              <a:lnSpc>
                <a:spcPct val="108000"/>
              </a:lnSpc>
              <a:spcAft>
                <a:spcPts val="900"/>
              </a:spcAft>
              <a:buClr>
                <a:srgbClr val="0E746C"/>
              </a:buClr>
              <a:buFont typeface="Calibri"/>
              <a:buChar char="▪"/>
            </a:pPr>
            <a:r>
              <a:rPr sz="1030" b="0" i="0">
                <a:solidFill>
                  <a:srgbClr val="33414E"/>
                </a:solidFill>
                <a:latin typeface="Calibri"/>
              </a:rPr>
              <a:t>Oversees environmental sampling, data collection and analysis</a:t>
            </a:r>
          </a:p>
          <a:p>
            <a:pPr algn="l" marL="173736" indent="-173736">
              <a:lnSpc>
                <a:spcPct val="108000"/>
              </a:lnSpc>
              <a:spcAft>
                <a:spcPts val="900"/>
              </a:spcAft>
              <a:buClr>
                <a:srgbClr val="0E746C"/>
              </a:buClr>
              <a:buFont typeface="Calibri"/>
              <a:buChar char="▪"/>
            </a:pPr>
            <a:r>
              <a:rPr sz="1030" b="0" i="0">
                <a:solidFill>
                  <a:srgbClr val="33414E"/>
                </a:solidFill>
                <a:latin typeface="Calibri"/>
              </a:rPr>
              <a:t>Ensures quality control and validation of environmental data</a:t>
            </a:r>
          </a:p>
          <a:p>
            <a:pPr algn="l" marL="173736" indent="-173736">
              <a:lnSpc>
                <a:spcPct val="108000"/>
              </a:lnSpc>
              <a:spcAft>
                <a:spcPts val="900"/>
              </a:spcAft>
              <a:buClr>
                <a:srgbClr val="0E746C"/>
              </a:buClr>
              <a:buFont typeface="Calibri"/>
              <a:buChar char="▪"/>
            </a:pPr>
            <a:r>
              <a:rPr sz="1030" b="0" i="0">
                <a:solidFill>
                  <a:srgbClr val="33414E"/>
                </a:solidFill>
                <a:latin typeface="Calibri"/>
              </a:rPr>
              <a:t>Conducts investigations of environmental incidents and emergencies</a:t>
            </a:r>
          </a:p>
          <a:p>
            <a:pPr algn="l" marL="173736" indent="-173736">
              <a:lnSpc>
                <a:spcPct val="108000"/>
              </a:lnSpc>
              <a:spcAft>
                <a:spcPts val="900"/>
              </a:spcAft>
              <a:buClr>
                <a:srgbClr val="0E746C"/>
              </a:buClr>
              <a:buFont typeface="Calibri"/>
              <a:buChar char="▪"/>
            </a:pPr>
            <a:r>
              <a:rPr sz="1030" b="0" i="0">
                <a:solidFill>
                  <a:srgbClr val="33414E"/>
                </a:solidFill>
                <a:latin typeface="Calibri"/>
              </a:rPr>
              <a:t>Conducts field research on emerging environmental issues</a:t>
            </a:r>
          </a:p>
          <a:p>
            <a:pPr algn="l" marL="173736" indent="-173736">
              <a:lnSpc>
                <a:spcPct val="108000"/>
              </a:lnSpc>
              <a:spcAft>
                <a:spcPts val="900"/>
              </a:spcAft>
              <a:buClr>
                <a:srgbClr val="0E746C"/>
              </a:buClr>
              <a:buFont typeface="Calibri"/>
              <a:buChar char="▪"/>
            </a:pPr>
            <a:r>
              <a:rPr sz="1030" b="0" i="0">
                <a:solidFill>
                  <a:srgbClr val="33414E"/>
                </a:solidFill>
                <a:latin typeface="Calibri"/>
              </a:rPr>
              <a:t>Conducts environmental monitoring to validate non-compliance documents</a:t>
            </a:r>
          </a:p>
          <a:p>
            <a:pPr algn="l" marL="173736" indent="-173736">
              <a:lnSpc>
                <a:spcPct val="108000"/>
              </a:lnSpc>
              <a:spcAft>
                <a:spcPts val="900"/>
              </a:spcAft>
              <a:buClr>
                <a:srgbClr val="0E746C"/>
              </a:buClr>
              <a:buFont typeface="Calibri"/>
              <a:buChar char="▪"/>
            </a:pPr>
            <a:r>
              <a:rPr sz="1030" b="0" i="0">
                <a:solidFill>
                  <a:srgbClr val="33414E"/>
                </a:solidFill>
                <a:latin typeface="Calibri"/>
              </a:rPr>
              <a:t>Prepares draft environmental standards and regulations</a:t>
            </a:r>
          </a:p>
          <a:p>
            <a:pPr algn="l" marL="173736" indent="-173736">
              <a:lnSpc>
                <a:spcPct val="108000"/>
              </a:lnSpc>
              <a:spcAft>
                <a:spcPts val="900"/>
              </a:spcAft>
              <a:buClr>
                <a:srgbClr val="0E746C"/>
              </a:buClr>
              <a:buFont typeface="Calibri"/>
              <a:buChar char="▪"/>
            </a:pPr>
            <a:r>
              <a:rPr sz="1030" b="0" i="0">
                <a:solidFill>
                  <a:srgbClr val="33414E"/>
                </a:solidFill>
                <a:latin typeface="Calibri"/>
              </a:rPr>
              <a:t>Develops reports and publications; collaborates with external researchers and partners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1142359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E746C"/>
                </a:solidFill>
                <a:latin typeface="Calibri"/>
              </a:rPr>
              <a:t>ENVIRONMENTAL MONITORING AND RESEARCH UNIT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502920"/>
            <a:ext cx="1142359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24A2C"/>
                </a:solidFill>
                <a:latin typeface="Calibri"/>
              </a:rPr>
              <a:t>EMR — Field Monitoring &amp; Research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042415"/>
            <a:ext cx="11423599" cy="25603"/>
          </a:xfrm>
          <a:prstGeom prst="rect">
            <a:avLst/>
          </a:prstGeom>
          <a:solidFill>
            <a:srgbClr val="0E7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6519672"/>
            <a:ext cx="11423599" cy="10972"/>
          </a:xfrm>
          <a:prstGeom prst="rect">
            <a:avLst/>
          </a:prstGeom>
          <a:solidFill>
            <a:srgbClr val="D6D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74536"/>
            <a:ext cx="9601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Environmental Research and Radiation Safety Department  |  Comprehensive Terms of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76127" y="657453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84048" y="1371600"/>
          <a:ext cx="11420856" cy="2743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88920"/>
                <a:gridCol w="2651760"/>
                <a:gridCol w="5980176"/>
              </a:tblGrid>
              <a:tr h="365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POSITION</a:t>
                      </a:r>
                    </a:p>
                  </a:txBody>
                  <a:tcPr anchor="ctr" marL="82296" marR="54864" marT="18288" marB="18288">
                    <a:solidFill>
                      <a:srgbClr val="0E746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REPORTS TO</a:t>
                      </a:r>
                    </a:p>
                  </a:txBody>
                  <a:tcPr anchor="ctr" marL="82296" marR="54864" marT="18288" marB="18288">
                    <a:solidFill>
                      <a:srgbClr val="0E746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MINIMUM QUALIFICATION &amp; EXPERIENCE</a:t>
                      </a:r>
                    </a:p>
                  </a:txBody>
                  <a:tcPr anchor="ctr" marL="82296" marR="54864" marT="18288" marB="18288">
                    <a:solidFill>
                      <a:srgbClr val="0E746C"/>
                    </a:solidFill>
                  </a:tcPr>
                </a:tc>
              </a:tr>
              <a:tr h="47548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212B36"/>
                          </a:solidFill>
                          <a:latin typeface="Calibri"/>
                        </a:rPr>
                        <a:t>Assistant Director — EMR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33414E"/>
                          </a:solidFill>
                          <a:latin typeface="Calibri"/>
                        </a:rPr>
                        <a:t>Director, ERRS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33414E"/>
                          </a:solidFill>
                          <a:latin typeface="Calibri"/>
                        </a:rPr>
                        <a:t>Master’s — Env. Science / Mgmt, Eng., Natural Resource Mgmt, Env. / Analytical Chemistry or related · 5+ yrs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212B36"/>
                          </a:solidFill>
                          <a:latin typeface="Calibri"/>
                        </a:rPr>
                        <a:t>Environmental Monitoring Supervisor</a:t>
                      </a:r>
                    </a:p>
                  </a:txBody>
                  <a:tcPr anchor="ctr" marL="82296" marR="54864" marT="27432" marB="27432">
                    <a:solidFill>
                      <a:srgbClr val="E5F1E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33414E"/>
                          </a:solidFill>
                          <a:latin typeface="Calibri"/>
                        </a:rPr>
                        <a:t>Asst. Director, EMR</a:t>
                      </a:r>
                    </a:p>
                  </a:txBody>
                  <a:tcPr anchor="ctr" marL="82296" marR="54864" marT="27432" marB="27432">
                    <a:solidFill>
                      <a:srgbClr val="E5F1E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33414E"/>
                          </a:solidFill>
                          <a:latin typeface="Calibri"/>
                        </a:rPr>
                        <a:t>Master’s — Env. Science, Env. Mgmt or related · 3+ yrs field experience in data collection / analysis</a:t>
                      </a:r>
                    </a:p>
                  </a:txBody>
                  <a:tcPr anchor="ctr" marL="82296" marR="54864" marT="27432" marB="27432">
                    <a:solidFill>
                      <a:srgbClr val="E5F1EF"/>
                    </a:solidFill>
                  </a:tcPr>
                </a:tc>
              </a:tr>
              <a:tr h="47548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212B36"/>
                          </a:solidFill>
                          <a:latin typeface="Calibri"/>
                        </a:rPr>
                        <a:t>Environmental Monitoring Analyst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33414E"/>
                          </a:solidFill>
                          <a:latin typeface="Calibri"/>
                        </a:rPr>
                        <a:t>Environmental Monitoring Supervisor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33414E"/>
                          </a:solidFill>
                          <a:latin typeface="Calibri"/>
                        </a:rPr>
                        <a:t>Bachelor’s — Env. Science, Chemistry, Natural Resource Mgmt or related · 2+ yrs field experience preferred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212B36"/>
                          </a:solidFill>
                          <a:latin typeface="Calibri"/>
                        </a:rPr>
                        <a:t>Occupational &amp; Health Safety Technician</a:t>
                      </a:r>
                    </a:p>
                  </a:txBody>
                  <a:tcPr anchor="ctr" marL="82296" marR="54864" marT="27432" marB="27432">
                    <a:solidFill>
                      <a:srgbClr val="E5F1E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33414E"/>
                          </a:solidFill>
                          <a:latin typeface="Calibri"/>
                        </a:rPr>
                        <a:t>Environmental Monitoring Supervisor</a:t>
                      </a:r>
                    </a:p>
                  </a:txBody>
                  <a:tcPr anchor="ctr" marL="82296" marR="54864" marT="27432" marB="27432">
                    <a:solidFill>
                      <a:srgbClr val="E5F1E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33414E"/>
                          </a:solidFill>
                          <a:latin typeface="Calibri"/>
                        </a:rPr>
                        <a:t>Bachelor’s — OHS, Env. Health or related · 2+ yrs workplace safety / compliance; NEBOSH / IOSH an advantage</a:t>
                      </a:r>
                    </a:p>
                  </a:txBody>
                  <a:tcPr anchor="ctr" marL="82296" marR="54864" marT="27432" marB="27432">
                    <a:solidFill>
                      <a:srgbClr val="E5F1EF"/>
                    </a:solidFill>
                  </a:tcPr>
                </a:tc>
              </a:tr>
              <a:tr h="47548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212B36"/>
                          </a:solidFill>
                          <a:latin typeface="Calibri"/>
                        </a:rPr>
                        <a:t>Environmental Monitoring Technician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33414E"/>
                          </a:solidFill>
                          <a:latin typeface="Calibri"/>
                        </a:rPr>
                        <a:t>Environmental Monitoring Supervisor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33414E"/>
                          </a:solidFill>
                          <a:latin typeface="Calibri"/>
                        </a:rPr>
                        <a:t>Bachelor’s — Env. Science / Mgmt, Chemistry, Biology or related · 2+ yrs; GIS / laboratory training an advantage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1142359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E746C"/>
                </a:solidFill>
                <a:latin typeface="Calibri"/>
              </a:rPr>
              <a:t>ENVIRONMENTAL MONITORING AND RESEARCH UNIT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502920"/>
            <a:ext cx="1142359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24A2C"/>
                </a:solidFill>
                <a:latin typeface="Calibri"/>
              </a:rPr>
              <a:t>EMR — Laboratory &amp; Data Teams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042415"/>
            <a:ext cx="11423599" cy="25603"/>
          </a:xfrm>
          <a:prstGeom prst="rect">
            <a:avLst/>
          </a:prstGeom>
          <a:solidFill>
            <a:srgbClr val="0E7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6519672"/>
            <a:ext cx="11423599" cy="10972"/>
          </a:xfrm>
          <a:prstGeom prst="rect">
            <a:avLst/>
          </a:prstGeom>
          <a:solidFill>
            <a:srgbClr val="D6D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74536"/>
            <a:ext cx="9601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Environmental Research and Radiation Safety Department  |  Comprehensive Terms of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76127" y="657453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84048" y="1371600"/>
          <a:ext cx="11420856" cy="321868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88920"/>
                <a:gridCol w="2651760"/>
                <a:gridCol w="5980176"/>
              </a:tblGrid>
              <a:tr h="365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POSITION</a:t>
                      </a:r>
                    </a:p>
                  </a:txBody>
                  <a:tcPr anchor="ctr" marL="82296" marR="54864" marT="18288" marB="18288">
                    <a:solidFill>
                      <a:srgbClr val="0E746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REPORTS TO</a:t>
                      </a:r>
                    </a:p>
                  </a:txBody>
                  <a:tcPr anchor="ctr" marL="82296" marR="54864" marT="18288" marB="18288">
                    <a:solidFill>
                      <a:srgbClr val="0E746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MINIMUM QUALIFICATION &amp; EXPERIENCE</a:t>
                      </a:r>
                    </a:p>
                  </a:txBody>
                  <a:tcPr anchor="ctr" marL="82296" marR="54864" marT="18288" marB="18288">
                    <a:solidFill>
                      <a:srgbClr val="0E746C"/>
                    </a:solidFill>
                  </a:tcPr>
                </a:tc>
              </a:tr>
              <a:tr h="47548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212B36"/>
                          </a:solidFill>
                          <a:latin typeface="Calibri"/>
                        </a:rPr>
                        <a:t>Instrumentation Laboratory Supervisor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33414E"/>
                          </a:solidFill>
                          <a:latin typeface="Calibri"/>
                        </a:rPr>
                        <a:t>Asst. Director, EMR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33414E"/>
                          </a:solidFill>
                          <a:latin typeface="Calibri"/>
                        </a:rPr>
                        <a:t>Master’s — Chemistry, Instrumentation, Applied Env. Sciences or related · 3+ yrs instrument-based lab management (GC, AAS, UV-VIS)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212B36"/>
                          </a:solidFill>
                          <a:latin typeface="Calibri"/>
                        </a:rPr>
                        <a:t>Instrumentation Laboratory Analyst</a:t>
                      </a:r>
                    </a:p>
                  </a:txBody>
                  <a:tcPr anchor="ctr" marL="82296" marR="54864" marT="27432" marB="27432">
                    <a:solidFill>
                      <a:srgbClr val="E5F1E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33414E"/>
                          </a:solidFill>
                          <a:latin typeface="Calibri"/>
                        </a:rPr>
                        <a:t>Instrumentation Lab Supervisor</a:t>
                      </a:r>
                    </a:p>
                  </a:txBody>
                  <a:tcPr anchor="ctr" marL="82296" marR="54864" marT="27432" marB="27432">
                    <a:solidFill>
                      <a:srgbClr val="E5F1E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33414E"/>
                          </a:solidFill>
                          <a:latin typeface="Calibri"/>
                        </a:rPr>
                        <a:t>Bachelor’s — Lab Technology, Chemistry or Instrumentation · 2+ yrs instrumentation laboratory experience preferred</a:t>
                      </a:r>
                    </a:p>
                  </a:txBody>
                  <a:tcPr anchor="ctr" marL="82296" marR="54864" marT="27432" marB="27432">
                    <a:solidFill>
                      <a:srgbClr val="E5F1EF"/>
                    </a:solidFill>
                  </a:tcPr>
                </a:tc>
              </a:tr>
              <a:tr h="47548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212B36"/>
                          </a:solidFill>
                          <a:latin typeface="Calibri"/>
                        </a:rPr>
                        <a:t>Marine &amp; Water Quality Lab Supervisor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33414E"/>
                          </a:solidFill>
                          <a:latin typeface="Calibri"/>
                        </a:rPr>
                        <a:t>Asst. Director, EMR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33414E"/>
                          </a:solidFill>
                          <a:latin typeface="Calibri"/>
                        </a:rPr>
                        <a:t>Master’s — Env. Chemistry, Marine Science or Lab Technology · 3+ yrs lab management; EPA / ISO QA-QC compliance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212B36"/>
                          </a:solidFill>
                          <a:latin typeface="Calibri"/>
                        </a:rPr>
                        <a:t>Marine &amp; Water Quality Lab Analyst</a:t>
                      </a:r>
                    </a:p>
                  </a:txBody>
                  <a:tcPr anchor="ctr" marL="82296" marR="54864" marT="27432" marB="27432">
                    <a:solidFill>
                      <a:srgbClr val="E5F1E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33414E"/>
                          </a:solidFill>
                          <a:latin typeface="Calibri"/>
                        </a:rPr>
                        <a:t>Marine &amp; Water Quality Lab Supervisor</a:t>
                      </a:r>
                    </a:p>
                  </a:txBody>
                  <a:tcPr anchor="ctr" marL="82296" marR="54864" marT="27432" marB="27432">
                    <a:solidFill>
                      <a:srgbClr val="E5F1E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33414E"/>
                          </a:solidFill>
                          <a:latin typeface="Calibri"/>
                        </a:rPr>
                        <a:t>Bachelor’s — Lab Technology, Chemistry, Env. Science or related · 2+ yrs laboratory experience required</a:t>
                      </a:r>
                    </a:p>
                  </a:txBody>
                  <a:tcPr anchor="ctr" marL="82296" marR="54864" marT="27432" marB="27432">
                    <a:solidFill>
                      <a:srgbClr val="E5F1EF"/>
                    </a:solidFill>
                  </a:tcPr>
                </a:tc>
              </a:tr>
              <a:tr h="47548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212B36"/>
                          </a:solidFill>
                          <a:latin typeface="Calibri"/>
                        </a:rPr>
                        <a:t>Laboratory QC &amp; Assurance Supervisor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33414E"/>
                          </a:solidFill>
                          <a:latin typeface="Calibri"/>
                        </a:rPr>
                        <a:t>Asst. Director, EMR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33414E"/>
                          </a:solidFill>
                          <a:latin typeface="Calibri"/>
                        </a:rPr>
                        <a:t>Master’s — Env. Chemistry, Lab Science or Quality Mgmt · 3+ yrs QA / QC in a laboratory setting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212B36"/>
                          </a:solidFill>
                          <a:latin typeface="Calibri"/>
                        </a:rPr>
                        <a:t>Laboratory Data Analyst</a:t>
                      </a:r>
                    </a:p>
                  </a:txBody>
                  <a:tcPr anchor="ctr" marL="82296" marR="54864" marT="27432" marB="27432">
                    <a:solidFill>
                      <a:srgbClr val="E5F1E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33414E"/>
                          </a:solidFill>
                          <a:latin typeface="Calibri"/>
                        </a:rPr>
                        <a:t>Laboratory QC &amp; Assurance Supervisor</a:t>
                      </a:r>
                    </a:p>
                  </a:txBody>
                  <a:tcPr anchor="ctr" marL="82296" marR="54864" marT="27432" marB="27432">
                    <a:solidFill>
                      <a:srgbClr val="E5F1E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33414E"/>
                          </a:solidFill>
                          <a:latin typeface="Calibri"/>
                        </a:rPr>
                        <a:t>Bachelor’s — Lab Science, Info. Mgmt, Public Health, Statistics or related · 2+ yrs lab data management; LIMS familiarity an advantage</a:t>
                      </a:r>
                    </a:p>
                  </a:txBody>
                  <a:tcPr anchor="ctr" marL="82296" marR="54864" marT="27432" marB="27432">
                    <a:solidFill>
                      <a:srgbClr val="E5F1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1142359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45309"/>
                </a:solidFill>
                <a:latin typeface="Calibri"/>
              </a:rPr>
              <a:t>RADIATION SAFETY UNIT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502920"/>
            <a:ext cx="1142359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24A2C"/>
                </a:solidFill>
                <a:latin typeface="Calibri"/>
              </a:rPr>
              <a:t>RSU — Mandate &amp; Functions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042415"/>
            <a:ext cx="11423599" cy="2560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6519672"/>
            <a:ext cx="11423599" cy="10972"/>
          </a:xfrm>
          <a:prstGeom prst="rect">
            <a:avLst/>
          </a:prstGeom>
          <a:solidFill>
            <a:srgbClr val="D6D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74536"/>
            <a:ext cx="9601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Environmental Research and Radiation Safety Department  |  Comprehensive Terms of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76127" y="657453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298448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B45309"/>
                </a:solidFill>
                <a:latin typeface="Calibri"/>
              </a:rPr>
              <a:t>MANDATE &amp; FUNCTIONS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755648"/>
            <a:ext cx="667512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3736" indent="-173736">
              <a:lnSpc>
                <a:spcPct val="112000"/>
              </a:lnSpc>
              <a:spcAft>
                <a:spcPts val="1200"/>
              </a:spcAft>
              <a:buClr>
                <a:srgbClr val="B45309"/>
              </a:buClr>
              <a:buFont typeface="Calibri"/>
              <a:buChar char="▪"/>
            </a:pPr>
            <a:r>
              <a:rPr sz="1150" b="0" i="0">
                <a:solidFill>
                  <a:srgbClr val="33414E"/>
                </a:solidFill>
                <a:latin typeface="Calibri"/>
              </a:rPr>
              <a:t>Regulates and coordinates all operations connected to the possession, use, transit, import, export and disposal of radiation sources in Liberia</a:t>
            </a:r>
          </a:p>
          <a:p>
            <a:pPr algn="l" marL="173736" indent="-173736">
              <a:lnSpc>
                <a:spcPct val="112000"/>
              </a:lnSpc>
              <a:spcAft>
                <a:spcPts val="1200"/>
              </a:spcAft>
              <a:buClr>
                <a:srgbClr val="B45309"/>
              </a:buClr>
              <a:buFont typeface="Calibri"/>
              <a:buChar char="▪"/>
            </a:pPr>
            <a:r>
              <a:rPr sz="1150" b="0" i="0">
                <a:solidFill>
                  <a:srgbClr val="33414E"/>
                </a:solidFill>
                <a:latin typeface="Calibri"/>
              </a:rPr>
              <a:t>Assures national compliance with radiation safety standards, in line with IAEA requirements</a:t>
            </a:r>
          </a:p>
          <a:p>
            <a:pPr algn="l" marL="173736" indent="-173736">
              <a:lnSpc>
                <a:spcPct val="112000"/>
              </a:lnSpc>
              <a:spcAft>
                <a:spcPts val="1200"/>
              </a:spcAft>
              <a:buClr>
                <a:srgbClr val="B45309"/>
              </a:buClr>
              <a:buFont typeface="Calibri"/>
              <a:buChar char="▪"/>
            </a:pPr>
            <a:r>
              <a:rPr sz="1150" b="0" i="0">
                <a:solidFill>
                  <a:srgbClr val="33414E"/>
                </a:solidFill>
                <a:latin typeface="Calibri"/>
              </a:rPr>
              <a:t>Monitors radiation risks in medical and industrial facilities</a:t>
            </a:r>
          </a:p>
          <a:p>
            <a:pPr algn="l" marL="173736" indent="-173736">
              <a:lnSpc>
                <a:spcPct val="112000"/>
              </a:lnSpc>
              <a:spcAft>
                <a:spcPts val="1200"/>
              </a:spcAft>
              <a:buClr>
                <a:srgbClr val="B45309"/>
              </a:buClr>
              <a:buFont typeface="Calibri"/>
              <a:buChar char="▪"/>
            </a:pPr>
            <a:r>
              <a:rPr sz="1150" b="0" i="0">
                <a:solidFill>
                  <a:srgbClr val="33414E"/>
                </a:solidFill>
                <a:latin typeface="Calibri"/>
              </a:rPr>
              <a:t>Maintains Liberia’s radiation safety databases — RASIMS and RAIS</a:t>
            </a:r>
          </a:p>
          <a:p>
            <a:pPr algn="l" marL="173736" indent="-173736">
              <a:lnSpc>
                <a:spcPct val="112000"/>
              </a:lnSpc>
              <a:spcAft>
                <a:spcPts val="1200"/>
              </a:spcAft>
              <a:buClr>
                <a:srgbClr val="B45309"/>
              </a:buClr>
              <a:buFont typeface="Calibri"/>
              <a:buChar char="▪"/>
            </a:pPr>
            <a:r>
              <a:rPr sz="1150" b="0" i="0">
                <a:solidFill>
                  <a:srgbClr val="33414E"/>
                </a:solidFill>
                <a:latin typeface="Calibri"/>
              </a:rPr>
              <a:t>Enforces safety standards, performs monitoring, and leads emergency response for radioactive accidents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06056" y="1298448"/>
            <a:ext cx="4501591" cy="4892040"/>
          </a:xfrm>
          <a:prstGeom prst="rect">
            <a:avLst/>
          </a:prstGeom>
          <a:solidFill>
            <a:srgbClr val="FA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06056" y="1298448"/>
            <a:ext cx="4501591" cy="38404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88936" y="1371600"/>
            <a:ext cx="41358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ASSISTANT DIRECTOR — KEY RESPONSIBILITIES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07224" y="1847088"/>
            <a:ext cx="4099255" cy="4251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3736" indent="-173736">
              <a:lnSpc>
                <a:spcPct val="108000"/>
              </a:lnSpc>
              <a:spcAft>
                <a:spcPts val="900"/>
              </a:spcAft>
              <a:buClr>
                <a:srgbClr val="B45309"/>
              </a:buClr>
              <a:buFont typeface="Calibri"/>
              <a:buChar char="▪"/>
            </a:pPr>
            <a:r>
              <a:rPr sz="1030" b="0" i="0">
                <a:solidFill>
                  <a:srgbClr val="33414E"/>
                </a:solidFill>
                <a:latin typeface="Calibri"/>
              </a:rPr>
              <a:t>Leads implementation of national strategies and programs for radiation safety in line with international standards</a:t>
            </a:r>
          </a:p>
          <a:p>
            <a:pPr algn="l" marL="173736" indent="-173736">
              <a:lnSpc>
                <a:spcPct val="108000"/>
              </a:lnSpc>
              <a:spcAft>
                <a:spcPts val="900"/>
              </a:spcAft>
              <a:buClr>
                <a:srgbClr val="B45309"/>
              </a:buClr>
              <a:buFont typeface="Calibri"/>
              <a:buChar char="▪"/>
            </a:pPr>
            <a:r>
              <a:rPr sz="1030" b="0" i="0">
                <a:solidFill>
                  <a:srgbClr val="33414E"/>
                </a:solidFill>
                <a:latin typeface="Calibri"/>
              </a:rPr>
              <a:t>Coordinates the unit’s activities, including industrial and medical practices</a:t>
            </a:r>
          </a:p>
          <a:p>
            <a:pPr algn="l" marL="173736" indent="-173736">
              <a:lnSpc>
                <a:spcPct val="108000"/>
              </a:lnSpc>
              <a:spcAft>
                <a:spcPts val="900"/>
              </a:spcAft>
              <a:buClr>
                <a:srgbClr val="B45309"/>
              </a:buClr>
              <a:buFont typeface="Calibri"/>
              <a:buChar char="▪"/>
            </a:pPr>
            <a:r>
              <a:rPr sz="1030" b="0" i="0">
                <a:solidFill>
                  <a:srgbClr val="33414E"/>
                </a:solidFill>
                <a:latin typeface="Calibri"/>
              </a:rPr>
              <a:t>Ensures compliance with national radiation protection regulations and IAEA standards</a:t>
            </a:r>
          </a:p>
          <a:p>
            <a:pPr algn="l" marL="173736" indent="-173736">
              <a:lnSpc>
                <a:spcPct val="108000"/>
              </a:lnSpc>
              <a:spcAft>
                <a:spcPts val="900"/>
              </a:spcAft>
              <a:buClr>
                <a:srgbClr val="B45309"/>
              </a:buClr>
              <a:buFont typeface="Calibri"/>
              <a:buChar char="▪"/>
            </a:pPr>
            <a:r>
              <a:rPr sz="1030" b="0" i="0">
                <a:solidFill>
                  <a:srgbClr val="33414E"/>
                </a:solidFill>
                <a:latin typeface="Calibri"/>
              </a:rPr>
              <a:t>Supervises and supports all subordinate staff of the unit</a:t>
            </a:r>
          </a:p>
          <a:p>
            <a:pPr algn="l" marL="173736" indent="-173736">
              <a:lnSpc>
                <a:spcPct val="108000"/>
              </a:lnSpc>
              <a:spcAft>
                <a:spcPts val="900"/>
              </a:spcAft>
              <a:buClr>
                <a:srgbClr val="B45309"/>
              </a:buClr>
              <a:buFont typeface="Calibri"/>
              <a:buChar char="▪"/>
            </a:pPr>
            <a:r>
              <a:rPr sz="1030" b="0" i="0">
                <a:solidFill>
                  <a:srgbClr val="33414E"/>
                </a:solidFill>
                <a:latin typeface="Calibri"/>
              </a:rPr>
              <a:t>Provides technical advice to the Director and senior management on radiation protection</a:t>
            </a:r>
          </a:p>
          <a:p>
            <a:pPr algn="l" marL="173736" indent="-173736">
              <a:lnSpc>
                <a:spcPct val="108000"/>
              </a:lnSpc>
              <a:spcAft>
                <a:spcPts val="900"/>
              </a:spcAft>
              <a:buClr>
                <a:srgbClr val="B45309"/>
              </a:buClr>
              <a:buFont typeface="Calibri"/>
              <a:buChar char="▪"/>
            </a:pPr>
            <a:r>
              <a:rPr sz="1030" b="0" i="0">
                <a:solidFill>
                  <a:srgbClr val="33414E"/>
                </a:solidFill>
                <a:latin typeface="Calibri"/>
              </a:rPr>
              <a:t>Represents the unit at national and international meetings on radiation safety</a:t>
            </a:r>
          </a:p>
          <a:p>
            <a:pPr algn="l" marL="173736" indent="-173736">
              <a:lnSpc>
                <a:spcPct val="108000"/>
              </a:lnSpc>
              <a:spcAft>
                <a:spcPts val="900"/>
              </a:spcAft>
              <a:buClr>
                <a:srgbClr val="B45309"/>
              </a:buClr>
              <a:buFont typeface="Calibri"/>
              <a:buChar char="▪"/>
            </a:pPr>
            <a:r>
              <a:rPr sz="1030" b="0" i="0">
                <a:solidFill>
                  <a:srgbClr val="33414E"/>
                </a:solidFill>
                <a:latin typeface="Calibri"/>
              </a:rPr>
              <a:t>Oversees preparation and submission of quarterly reports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1142359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45309"/>
                </a:solidFill>
                <a:latin typeface="Calibri"/>
              </a:rPr>
              <a:t>RADIATION SAFETY UNIT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502920"/>
            <a:ext cx="1142359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24A2C"/>
                </a:solidFill>
                <a:latin typeface="Calibri"/>
              </a:rPr>
              <a:t>RSU — Positions, Reporting Lines &amp; Qualifications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042415"/>
            <a:ext cx="11423599" cy="2560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6519672"/>
            <a:ext cx="11423599" cy="10972"/>
          </a:xfrm>
          <a:prstGeom prst="rect">
            <a:avLst/>
          </a:prstGeom>
          <a:solidFill>
            <a:srgbClr val="D6D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74536"/>
            <a:ext cx="9601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Environmental Research and Radiation Safety Department  |  Comprehensive Terms of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76127" y="657453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84048" y="1371600"/>
          <a:ext cx="11420856" cy="36941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88920"/>
                <a:gridCol w="2651760"/>
                <a:gridCol w="5980176"/>
              </a:tblGrid>
              <a:tr h="365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POSITION</a:t>
                      </a:r>
                    </a:p>
                  </a:txBody>
                  <a:tcPr anchor="ctr" marL="82296" marR="54864" marT="18288" marB="18288">
                    <a:solidFill>
                      <a:srgbClr val="B4530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REPORTS TO</a:t>
                      </a:r>
                    </a:p>
                  </a:txBody>
                  <a:tcPr anchor="ctr" marL="82296" marR="54864" marT="18288" marB="18288">
                    <a:solidFill>
                      <a:srgbClr val="B4530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MINIMUM QUALIFICATION &amp; EXPERIENCE</a:t>
                      </a:r>
                    </a:p>
                  </a:txBody>
                  <a:tcPr anchor="ctr" marL="82296" marR="54864" marT="18288" marB="18288">
                    <a:solidFill>
                      <a:srgbClr val="B45309"/>
                    </a:solidFill>
                  </a:tcPr>
                </a:tc>
              </a:tr>
              <a:tr h="47548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212B36"/>
                          </a:solidFill>
                          <a:latin typeface="Calibri"/>
                        </a:rPr>
                        <a:t>Assistant Director — RSU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33414E"/>
                          </a:solidFill>
                          <a:latin typeface="Calibri"/>
                        </a:rPr>
                        <a:t>Director, ERRS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33414E"/>
                          </a:solidFill>
                          <a:latin typeface="Calibri"/>
                        </a:rPr>
                        <a:t>Master’s — Nuclear Science, Env. Science, Radiation Protection &amp; Health Physics or related · 5+ yrs; PGEC in Radiation Protection an advantage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212B36"/>
                          </a:solidFill>
                          <a:latin typeface="Calibri"/>
                        </a:rPr>
                        <a:t>RASIMS Coordinator</a:t>
                      </a:r>
                    </a:p>
                  </a:txBody>
                  <a:tcPr anchor="ctr" marL="82296" marR="54864" marT="27432" marB="27432">
                    <a:solidFill>
                      <a:srgbClr val="FAEFE3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33414E"/>
                          </a:solidFill>
                          <a:latin typeface="Calibri"/>
                        </a:rPr>
                        <a:t>Asst. Director, RSU</a:t>
                      </a:r>
                    </a:p>
                  </a:txBody>
                  <a:tcPr anchor="ctr" marL="82296" marR="54864" marT="27432" marB="27432">
                    <a:solidFill>
                      <a:srgbClr val="FAEFE3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33414E"/>
                          </a:solidFill>
                          <a:latin typeface="Calibri"/>
                        </a:rPr>
                        <a:t>Master’s — Radiation Protection, Env. Science, Health Physics or related · experience in regulatory data management</a:t>
                      </a:r>
                    </a:p>
                  </a:txBody>
                  <a:tcPr anchor="ctr" marL="82296" marR="54864" marT="27432" marB="27432">
                    <a:solidFill>
                      <a:srgbClr val="FAEFE3"/>
                    </a:solidFill>
                  </a:tcPr>
                </a:tc>
              </a:tr>
              <a:tr h="47548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212B36"/>
                          </a:solidFill>
                          <a:latin typeface="Calibri"/>
                        </a:rPr>
                        <a:t>RASIMS Data Analyst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33414E"/>
                          </a:solidFill>
                          <a:latin typeface="Calibri"/>
                        </a:rPr>
                        <a:t>RASIMS Coordinator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33414E"/>
                          </a:solidFill>
                          <a:latin typeface="Calibri"/>
                        </a:rPr>
                        <a:t>Bachelor’s — Radiation Protection &amp; Health Physics, Env. Science or related · strong data-management skills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212B36"/>
                          </a:solidFill>
                          <a:latin typeface="Calibri"/>
                        </a:rPr>
                        <a:t>RAIS Data Officer</a:t>
                      </a:r>
                    </a:p>
                  </a:txBody>
                  <a:tcPr anchor="ctr" marL="82296" marR="54864" marT="27432" marB="27432">
                    <a:solidFill>
                      <a:srgbClr val="FAEFE3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33414E"/>
                          </a:solidFill>
                          <a:latin typeface="Calibri"/>
                        </a:rPr>
                        <a:t>RASIMS Coordinator</a:t>
                      </a:r>
                    </a:p>
                  </a:txBody>
                  <a:tcPr anchor="ctr" marL="82296" marR="54864" marT="27432" marB="27432">
                    <a:solidFill>
                      <a:srgbClr val="FAEFE3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33414E"/>
                          </a:solidFill>
                          <a:latin typeface="Calibri"/>
                        </a:rPr>
                        <a:t>Bachelor’s — Computer Science, Physics or related · experience in database management</a:t>
                      </a:r>
                    </a:p>
                  </a:txBody>
                  <a:tcPr anchor="ctr" marL="82296" marR="54864" marT="27432" marB="27432">
                    <a:solidFill>
                      <a:srgbClr val="FAEFE3"/>
                    </a:solidFill>
                  </a:tcPr>
                </a:tc>
              </a:tr>
              <a:tr h="47548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212B36"/>
                          </a:solidFill>
                          <a:latin typeface="Calibri"/>
                        </a:rPr>
                        <a:t>Radiation Safety Laboratory Supervisor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33414E"/>
                          </a:solidFill>
                          <a:latin typeface="Calibri"/>
                        </a:rPr>
                        <a:t>Asst. Director, RSU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33414E"/>
                          </a:solidFill>
                          <a:latin typeface="Calibri"/>
                        </a:rPr>
                        <a:t>Master’s — Health Physics &amp; Radiation Protection or related · 3+ yrs supervisory experience; PGEC an advantage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212B36"/>
                          </a:solidFill>
                          <a:latin typeface="Calibri"/>
                        </a:rPr>
                        <a:t>Radiation Safety Analyst</a:t>
                      </a:r>
                    </a:p>
                  </a:txBody>
                  <a:tcPr anchor="ctr" marL="82296" marR="54864" marT="27432" marB="27432">
                    <a:solidFill>
                      <a:srgbClr val="FAEFE3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33414E"/>
                          </a:solidFill>
                          <a:latin typeface="Calibri"/>
                        </a:rPr>
                        <a:t>Radiation Safety Lab Supervisor</a:t>
                      </a:r>
                    </a:p>
                  </a:txBody>
                  <a:tcPr anchor="ctr" marL="82296" marR="54864" marT="27432" marB="27432">
                    <a:solidFill>
                      <a:srgbClr val="FAEFE3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33414E"/>
                          </a:solidFill>
                          <a:latin typeface="Calibri"/>
                        </a:rPr>
                        <a:t>Bachelor’s — Physics, Engineering or related · training in industrial radiation safety</a:t>
                      </a:r>
                    </a:p>
                  </a:txBody>
                  <a:tcPr anchor="ctr" marL="82296" marR="54864" marT="27432" marB="27432">
                    <a:solidFill>
                      <a:srgbClr val="FAEFE3"/>
                    </a:solidFill>
                  </a:tcPr>
                </a:tc>
              </a:tr>
              <a:tr h="47548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212B36"/>
                          </a:solidFill>
                          <a:latin typeface="Calibri"/>
                        </a:rPr>
                        <a:t>Radiation Safety Technician (Medical &amp; Industrial)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33414E"/>
                          </a:solidFill>
                          <a:latin typeface="Calibri"/>
                        </a:rPr>
                        <a:t>Radiation Safety Lab Supervisor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33414E"/>
                          </a:solidFill>
                          <a:latin typeface="Calibri"/>
                        </a:rPr>
                        <a:t>Bachelor’s — Radiation Protection, Radiologic Technology, Medical Physics or related · professional radiation-protection training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1142359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D28D9"/>
                </a:solidFill>
                <a:latin typeface="Calibri"/>
              </a:rPr>
              <a:t>WASTE AND REMEDIATION UNIT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502920"/>
            <a:ext cx="1142359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24A2C"/>
                </a:solidFill>
                <a:latin typeface="Calibri"/>
              </a:rPr>
              <a:t>WRU — Mandate &amp; Functions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042415"/>
            <a:ext cx="11423599" cy="25603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6519672"/>
            <a:ext cx="11423599" cy="10972"/>
          </a:xfrm>
          <a:prstGeom prst="rect">
            <a:avLst/>
          </a:prstGeom>
          <a:solidFill>
            <a:srgbClr val="D6D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74536"/>
            <a:ext cx="9601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Environmental Research and Radiation Safety Department  |  Comprehensive Terms of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76127" y="657453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298448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6D28D9"/>
                </a:solidFill>
                <a:latin typeface="Calibri"/>
              </a:rPr>
              <a:t>MANDATE &amp; FUNCTIONS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755648"/>
            <a:ext cx="667512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3736" indent="-173736">
              <a:lnSpc>
                <a:spcPct val="112000"/>
              </a:lnSpc>
              <a:spcAft>
                <a:spcPts val="1200"/>
              </a:spcAft>
              <a:buClr>
                <a:srgbClr val="6D28D9"/>
              </a:buClr>
              <a:buFont typeface="Calibri"/>
              <a:buChar char="▪"/>
            </a:pPr>
            <a:r>
              <a:rPr sz="1150" b="0" i="0">
                <a:solidFill>
                  <a:srgbClr val="33414E"/>
                </a:solidFill>
                <a:latin typeface="Calibri"/>
              </a:rPr>
              <a:t>Regulates sustainable waste management practices and manages site remediation initiatives in Liberia</a:t>
            </a:r>
          </a:p>
          <a:p>
            <a:pPr algn="l" marL="173736" indent="-173736">
              <a:lnSpc>
                <a:spcPct val="112000"/>
              </a:lnSpc>
              <a:spcAft>
                <a:spcPts val="1200"/>
              </a:spcAft>
              <a:buClr>
                <a:srgbClr val="6D28D9"/>
              </a:buClr>
              <a:buFont typeface="Calibri"/>
              <a:buChar char="▪"/>
            </a:pPr>
            <a:r>
              <a:rPr sz="1150" b="0" i="0">
                <a:solidFill>
                  <a:srgbClr val="33414E"/>
                </a:solidFill>
                <a:latin typeface="Calibri"/>
              </a:rPr>
              <a:t>Monitors waste handling activities and assesses contaminated locations</a:t>
            </a:r>
          </a:p>
          <a:p>
            <a:pPr algn="l" marL="173736" indent="-173736">
              <a:lnSpc>
                <a:spcPct val="112000"/>
              </a:lnSpc>
              <a:spcAft>
                <a:spcPts val="1200"/>
              </a:spcAft>
              <a:buClr>
                <a:srgbClr val="6D28D9"/>
              </a:buClr>
              <a:buFont typeface="Calibri"/>
              <a:buChar char="▪"/>
            </a:pPr>
            <a:r>
              <a:rPr sz="1150" b="0" i="0">
                <a:solidFill>
                  <a:srgbClr val="33414E"/>
                </a:solidFill>
                <a:latin typeface="Calibri"/>
              </a:rPr>
              <a:t>Conducts remediation using environmentally sound technologies</a:t>
            </a:r>
          </a:p>
          <a:p>
            <a:pPr algn="l" marL="173736" indent="-173736">
              <a:lnSpc>
                <a:spcPct val="112000"/>
              </a:lnSpc>
              <a:spcAft>
                <a:spcPts val="1200"/>
              </a:spcAft>
              <a:buClr>
                <a:srgbClr val="6D28D9"/>
              </a:buClr>
              <a:buFont typeface="Calibri"/>
              <a:buChar char="▪"/>
            </a:pPr>
            <a:r>
              <a:rPr sz="1150" b="0" i="0">
                <a:solidFill>
                  <a:srgbClr val="33414E"/>
                </a:solidFill>
                <a:latin typeface="Calibri"/>
              </a:rPr>
              <a:t>Collaborates with government regulatory agencies and international partners to reduce waste-related environmental problems and safeguard community health</a:t>
            </a:r>
          </a:p>
          <a:p>
            <a:pPr algn="l" marL="173736" indent="-173736">
              <a:lnSpc>
                <a:spcPct val="112000"/>
              </a:lnSpc>
              <a:spcAft>
                <a:spcPts val="1200"/>
              </a:spcAft>
              <a:buClr>
                <a:srgbClr val="6D28D9"/>
              </a:buClr>
              <a:buFont typeface="Calibri"/>
              <a:buChar char="▪"/>
            </a:pPr>
            <a:r>
              <a:rPr sz="1150" b="0" i="0">
                <a:solidFill>
                  <a:srgbClr val="33414E"/>
                </a:solidFill>
                <a:latin typeface="Calibri"/>
              </a:rPr>
              <a:t>Scope covers routine monitoring and emergency response to hazardous waste spills and pollution incidents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06056" y="1298448"/>
            <a:ext cx="4501591" cy="4892040"/>
          </a:xfrm>
          <a:prstGeom prst="rect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06056" y="1298448"/>
            <a:ext cx="4501591" cy="38404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88936" y="1371600"/>
            <a:ext cx="41358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ASSISTANT DIRECTOR — KEY RESPONSIBILITIES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07224" y="1847088"/>
            <a:ext cx="4099255" cy="4251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3736" indent="-173736">
              <a:lnSpc>
                <a:spcPct val="108000"/>
              </a:lnSpc>
              <a:spcAft>
                <a:spcPts val="900"/>
              </a:spcAft>
              <a:buClr>
                <a:srgbClr val="6D28D9"/>
              </a:buClr>
              <a:buFont typeface="Calibri"/>
              <a:buChar char="▪"/>
            </a:pPr>
            <a:r>
              <a:rPr sz="1030" b="0" i="0">
                <a:solidFill>
                  <a:srgbClr val="33414E"/>
                </a:solidFill>
                <a:latin typeface="Calibri"/>
              </a:rPr>
              <a:t>Provides leadership and technical direction for the unit</a:t>
            </a:r>
          </a:p>
          <a:p>
            <a:pPr algn="l" marL="173736" indent="-173736">
              <a:lnSpc>
                <a:spcPct val="108000"/>
              </a:lnSpc>
              <a:spcAft>
                <a:spcPts val="900"/>
              </a:spcAft>
              <a:buClr>
                <a:srgbClr val="6D28D9"/>
              </a:buClr>
              <a:buFont typeface="Calibri"/>
              <a:buChar char="▪"/>
            </a:pPr>
            <a:r>
              <a:rPr sz="1030" b="0" i="0">
                <a:solidFill>
                  <a:srgbClr val="33414E"/>
                </a:solidFill>
                <a:latin typeface="Calibri"/>
              </a:rPr>
              <a:t>Supervises the implementation of scientific research and remediation projects</a:t>
            </a:r>
          </a:p>
          <a:p>
            <a:pPr algn="l" marL="173736" indent="-173736">
              <a:lnSpc>
                <a:spcPct val="108000"/>
              </a:lnSpc>
              <a:spcAft>
                <a:spcPts val="900"/>
              </a:spcAft>
              <a:buClr>
                <a:srgbClr val="6D28D9"/>
              </a:buClr>
              <a:buFont typeface="Calibri"/>
              <a:buChar char="▪"/>
            </a:pPr>
            <a:r>
              <a:rPr sz="1030" b="0" i="0">
                <a:solidFill>
                  <a:srgbClr val="33414E"/>
                </a:solidFill>
                <a:latin typeface="Calibri"/>
              </a:rPr>
              <a:t>Approves monitoring plans, field assessments and risk evaluation reports</a:t>
            </a:r>
          </a:p>
          <a:p>
            <a:pPr algn="l" marL="173736" indent="-173736">
              <a:lnSpc>
                <a:spcPct val="108000"/>
              </a:lnSpc>
              <a:spcAft>
                <a:spcPts val="900"/>
              </a:spcAft>
              <a:buClr>
                <a:srgbClr val="6D28D9"/>
              </a:buClr>
              <a:buFont typeface="Calibri"/>
              <a:buChar char="▪"/>
            </a:pPr>
            <a:r>
              <a:rPr sz="1030" b="0" i="0">
                <a:solidFill>
                  <a:srgbClr val="33414E"/>
                </a:solidFill>
                <a:latin typeface="Calibri"/>
              </a:rPr>
              <a:t>Represents the EPA in national and international waste and remediation programs</a:t>
            </a:r>
          </a:p>
          <a:p>
            <a:pPr algn="l" marL="173736" indent="-173736">
              <a:lnSpc>
                <a:spcPct val="108000"/>
              </a:lnSpc>
              <a:spcAft>
                <a:spcPts val="900"/>
              </a:spcAft>
              <a:buClr>
                <a:srgbClr val="6D28D9"/>
              </a:buClr>
              <a:buFont typeface="Calibri"/>
              <a:buChar char="▪"/>
            </a:pPr>
            <a:r>
              <a:rPr sz="1030" b="0" i="0">
                <a:solidFill>
                  <a:srgbClr val="33414E"/>
                </a:solidFill>
                <a:latin typeface="Calibri"/>
              </a:rPr>
              <a:t>Develops workplans, budgets, technical papers and annual reports for the unit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1142359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D28D9"/>
                </a:solidFill>
                <a:latin typeface="Calibri"/>
              </a:rPr>
              <a:t>WASTE AND REMEDIATION UNIT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502920"/>
            <a:ext cx="1142359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24A2C"/>
                </a:solidFill>
                <a:latin typeface="Calibri"/>
              </a:rPr>
              <a:t>WRU — Positions, Reporting Lines &amp; Qualifications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042415"/>
            <a:ext cx="11423599" cy="25603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6519672"/>
            <a:ext cx="11423599" cy="10972"/>
          </a:xfrm>
          <a:prstGeom prst="rect">
            <a:avLst/>
          </a:prstGeom>
          <a:solidFill>
            <a:srgbClr val="D6D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74536"/>
            <a:ext cx="9601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Environmental Research and Radiation Safety Department  |  Comprehensive Terms of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76127" y="657453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B7280"/>
                </a:solidFill>
                <a:latin typeface="Calibri"/>
              </a:rPr>
              <a:t>16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84048" y="1371600"/>
          <a:ext cx="11420856" cy="321868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88920"/>
                <a:gridCol w="2651760"/>
                <a:gridCol w="5980176"/>
              </a:tblGrid>
              <a:tr h="365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POSITION</a:t>
                      </a:r>
                    </a:p>
                  </a:txBody>
                  <a:tcPr anchor="ctr" marL="82296" marR="54864" marT="18288" marB="18288">
                    <a:solidFill>
                      <a:srgbClr val="6D28D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REPORTS TO</a:t>
                      </a:r>
                    </a:p>
                  </a:txBody>
                  <a:tcPr anchor="ctr" marL="82296" marR="54864" marT="18288" marB="18288">
                    <a:solidFill>
                      <a:srgbClr val="6D28D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MINIMUM QUALIFICATION &amp; EXPERIENCE</a:t>
                      </a:r>
                    </a:p>
                  </a:txBody>
                  <a:tcPr anchor="ctr" marL="82296" marR="54864" marT="18288" marB="18288">
                    <a:solidFill>
                      <a:srgbClr val="6D28D9"/>
                    </a:solidFill>
                  </a:tcPr>
                </a:tc>
              </a:tr>
              <a:tr h="47548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212B36"/>
                          </a:solidFill>
                          <a:latin typeface="Calibri"/>
                        </a:rPr>
                        <a:t>Assistant Director — WRU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33414E"/>
                          </a:solidFill>
                          <a:latin typeface="Calibri"/>
                        </a:rPr>
                        <a:t>Director, ERRS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33414E"/>
                          </a:solidFill>
                          <a:latin typeface="Calibri"/>
                        </a:rPr>
                        <a:t>Master’s — Env. Science, Public Health, Env. Engineering or related · 5+ yrs waste management, site remediation and program leadership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212B36"/>
                          </a:solidFill>
                          <a:latin typeface="Calibri"/>
                        </a:rPr>
                        <a:t>Senior Waste Supervisor</a:t>
                      </a:r>
                    </a:p>
                  </a:txBody>
                  <a:tcPr anchor="ctr" marL="82296" marR="54864" marT="27432" marB="27432">
                    <a:solidFill>
                      <a:srgbClr val="EFEA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33414E"/>
                          </a:solidFill>
                          <a:latin typeface="Calibri"/>
                        </a:rPr>
                        <a:t>Asst. Director, WRU</a:t>
                      </a:r>
                    </a:p>
                  </a:txBody>
                  <a:tcPr anchor="ctr" marL="82296" marR="54864" marT="27432" marB="27432">
                    <a:solidFill>
                      <a:srgbClr val="EFEA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33414E"/>
                          </a:solidFill>
                          <a:latin typeface="Calibri"/>
                        </a:rPr>
                        <a:t>Master’s — Env. Health / Science / Eng., Waste Mgmt or related · 3+ yrs; ESMP / EIA review highly desirable</a:t>
                      </a:r>
                    </a:p>
                  </a:txBody>
                  <a:tcPr anchor="ctr" marL="82296" marR="54864" marT="27432" marB="27432">
                    <a:solidFill>
                      <a:srgbClr val="EFEAFB"/>
                    </a:solidFill>
                  </a:tcPr>
                </a:tc>
              </a:tr>
              <a:tr h="47548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212B36"/>
                          </a:solidFill>
                          <a:latin typeface="Calibri"/>
                        </a:rPr>
                        <a:t>Waste Analyst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33414E"/>
                          </a:solidFill>
                          <a:latin typeface="Calibri"/>
                        </a:rPr>
                        <a:t>Senior Waste Supervisor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33414E"/>
                          </a:solidFill>
                          <a:latin typeface="Calibri"/>
                        </a:rPr>
                        <a:t>Bachelor’s — Env. Science, Chemistry, Biology or related · 2+ yrs environmental monitoring / field work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212B36"/>
                          </a:solidFill>
                          <a:latin typeface="Calibri"/>
                        </a:rPr>
                        <a:t>Senior Waste Remediation Supervisor</a:t>
                      </a:r>
                    </a:p>
                  </a:txBody>
                  <a:tcPr anchor="ctr" marL="82296" marR="54864" marT="27432" marB="27432">
                    <a:solidFill>
                      <a:srgbClr val="EFEA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33414E"/>
                          </a:solidFill>
                          <a:latin typeface="Calibri"/>
                        </a:rPr>
                        <a:t>Asst. Director, WRU</a:t>
                      </a:r>
                    </a:p>
                  </a:txBody>
                  <a:tcPr anchor="ctr" marL="82296" marR="54864" marT="27432" marB="27432">
                    <a:solidFill>
                      <a:srgbClr val="EFEA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33414E"/>
                          </a:solidFill>
                          <a:latin typeface="Calibri"/>
                        </a:rPr>
                        <a:t>Master’s — Env. Engineering, Remediation Science or related · 3+ yrs progressive remediation / site-management experience</a:t>
                      </a:r>
                    </a:p>
                  </a:txBody>
                  <a:tcPr anchor="ctr" marL="82296" marR="54864" marT="27432" marB="27432">
                    <a:solidFill>
                      <a:srgbClr val="EFEAFB"/>
                    </a:solidFill>
                  </a:tcPr>
                </a:tc>
              </a:tr>
              <a:tr h="47548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212B36"/>
                          </a:solidFill>
                          <a:latin typeface="Calibri"/>
                        </a:rPr>
                        <a:t>Waste Remediation Analyst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33414E"/>
                          </a:solidFill>
                          <a:latin typeface="Calibri"/>
                        </a:rPr>
                        <a:t>Senior Waste Remediation Supervisor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33414E"/>
                          </a:solidFill>
                          <a:latin typeface="Calibri"/>
                        </a:rPr>
                        <a:t>Bachelor’s — Env. Engineering, Chemistry, Env. Science or related · 3+ yrs site assessment / remediation field experience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212B36"/>
                          </a:solidFill>
                          <a:latin typeface="Calibri"/>
                        </a:rPr>
                        <a:t>Environmental Quality &amp; Standards Analyst</a:t>
                      </a:r>
                    </a:p>
                  </a:txBody>
                  <a:tcPr anchor="ctr" marL="82296" marR="54864" marT="27432" marB="27432">
                    <a:solidFill>
                      <a:srgbClr val="EFEA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33414E"/>
                          </a:solidFill>
                          <a:latin typeface="Calibri"/>
                        </a:rPr>
                        <a:t>Senior Waste Remediation Supervisor</a:t>
                      </a:r>
                    </a:p>
                  </a:txBody>
                  <a:tcPr anchor="ctr" marL="82296" marR="54864" marT="27432" marB="27432">
                    <a:solidFill>
                      <a:srgbClr val="EFEA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33414E"/>
                          </a:solidFill>
                          <a:latin typeface="Calibri"/>
                        </a:rPr>
                        <a:t>Bachelor’s — Env. Science, Chemistry, Biology, Eng. or related (advanced degree preferred) · 2+ yrs monitoring / standards development</a:t>
                      </a:r>
                    </a:p>
                  </a:txBody>
                  <a:tcPr anchor="ctr" marL="82296" marR="54864" marT="27432" marB="27432">
                    <a:solidFill>
                      <a:srgbClr val="EFE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1142359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24A2C"/>
                </a:solidFill>
                <a:latin typeface="Calibri"/>
              </a:rPr>
              <a:t>HUMAN RESOURCES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502920"/>
            <a:ext cx="1142359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24A2C"/>
                </a:solidFill>
                <a:latin typeface="Calibri"/>
              </a:rPr>
              <a:t>Qualifications &amp; Experience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042415"/>
            <a:ext cx="11423599" cy="25603"/>
          </a:xfrm>
          <a:prstGeom prst="rect">
            <a:avLst/>
          </a:prstGeom>
          <a:solidFill>
            <a:srgbClr val="124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6519672"/>
            <a:ext cx="11423599" cy="10972"/>
          </a:xfrm>
          <a:prstGeom prst="rect">
            <a:avLst/>
          </a:prstGeom>
          <a:solidFill>
            <a:srgbClr val="D6D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74536"/>
            <a:ext cx="9601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Environmental Research and Radiation Safety Department  |  Comprehensive Terms of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76127" y="657453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B7280"/>
                </a:solidFill>
                <a:latin typeface="Calibr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298448"/>
            <a:ext cx="6035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24A2C"/>
                </a:solidFill>
                <a:latin typeface="Calibri"/>
              </a:rPr>
              <a:t>DEGREE REQUIREMENTS — ALL 33 POSITIONS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874519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12B36"/>
                </a:solidFill>
                <a:latin typeface="Calibri"/>
              </a:rPr>
              <a:t>Master’s degree required  —  </a:t>
            </a:r>
            <a:r>
              <a:rPr sz="1200" b="1" i="0">
                <a:solidFill>
                  <a:srgbClr val="124A2C"/>
                </a:solidFill>
                <a:latin typeface="Calibri"/>
              </a:rPr>
              <a:t>15 positions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" y="2221991"/>
            <a:ext cx="5760720" cy="384048"/>
          </a:xfrm>
          <a:prstGeom prst="rect">
            <a:avLst/>
          </a:prstGeom>
          <a:solidFill>
            <a:srgbClr val="D6D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" y="2221991"/>
            <a:ext cx="2618509" cy="384048"/>
          </a:xfrm>
          <a:prstGeom prst="rect">
            <a:avLst/>
          </a:prstGeom>
          <a:solidFill>
            <a:srgbClr val="124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2679191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Director, all 4 Assistant Directors and 10 supervisory / coordination roles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324612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12B36"/>
                </a:solidFill>
                <a:latin typeface="Calibri"/>
              </a:rPr>
              <a:t>Bachelor’s degree required  —  </a:t>
            </a:r>
            <a:r>
              <a:rPr sz="1200" b="1" i="0">
                <a:solidFill>
                  <a:srgbClr val="1E7A43"/>
                </a:solidFill>
                <a:latin typeface="Calibri"/>
              </a:rPr>
              <a:t>18 positions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" y="3593591"/>
            <a:ext cx="5760720" cy="384048"/>
          </a:xfrm>
          <a:prstGeom prst="rect">
            <a:avLst/>
          </a:prstGeom>
          <a:solidFill>
            <a:srgbClr val="D6D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" y="3593591"/>
            <a:ext cx="3142210" cy="384048"/>
          </a:xfrm>
          <a:prstGeom prst="rect">
            <a:avLst/>
          </a:prstGeom>
          <a:solidFill>
            <a:srgbClr val="1E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4050791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Analysts, technicians, handlers and registry 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4800600"/>
            <a:ext cx="60350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24A2C"/>
                </a:solidFill>
                <a:latin typeface="Calibri"/>
              </a:rPr>
              <a:t>Professional credentials that strengthen candidacies:  </a:t>
            </a:r>
            <a:r>
              <a:rPr sz="1050" b="0" i="0">
                <a:solidFill>
                  <a:srgbClr val="33414E"/>
                </a:solidFill>
                <a:latin typeface="Calibri"/>
              </a:rPr>
              <a:t>PGEC in Radiation Protection · NEBOSH / IOSH · GHS &amp; MSDS competence · hazardous-waste, environmental-audit and remediation certification · GIS and laboratory analysis training · LIMS familiarity.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1298448"/>
            <a:ext cx="508680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24A2C"/>
                </a:solidFill>
                <a:latin typeface="Calibri"/>
              </a:rPr>
              <a:t>EXPERIENCE LADDER — MINIMUM YEARS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59" y="4343400"/>
            <a:ext cx="1111681" cy="868680"/>
          </a:xfrm>
          <a:prstGeom prst="rect">
            <a:avLst/>
          </a:prstGeom>
          <a:solidFill>
            <a:srgbClr val="1E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39127" y="4032504"/>
            <a:ext cx="116654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E7A43"/>
                </a:solidFill>
                <a:latin typeface="Calibri"/>
              </a:rPr>
              <a:t>2 yrs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7" y="5285232"/>
            <a:ext cx="116654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33414E"/>
                </a:solidFill>
                <a:latin typeface="Calibri"/>
              </a:rPr>
              <a:t>Analysts &amp; technicians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15401" y="3977639"/>
            <a:ext cx="1111681" cy="1234440"/>
          </a:xfrm>
          <a:prstGeom prst="rect">
            <a:avLst/>
          </a:prstGeom>
          <a:solidFill>
            <a:srgbClr val="1E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87969" y="3666744"/>
            <a:ext cx="116654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E7A43"/>
                </a:solidFill>
                <a:latin typeface="Calibri"/>
              </a:rPr>
              <a:t>3 yrs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87969" y="5285232"/>
            <a:ext cx="116654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33414E"/>
                </a:solidFill>
                <a:latin typeface="Calibri"/>
              </a:rPr>
              <a:t>Supervisors &amp; senior analysts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64243" y="3520440"/>
            <a:ext cx="1111681" cy="1691640"/>
          </a:xfrm>
          <a:prstGeom prst="rect">
            <a:avLst/>
          </a:prstGeom>
          <a:solidFill>
            <a:srgbClr val="1E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6811" y="3209544"/>
            <a:ext cx="116654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E7A43"/>
                </a:solidFill>
                <a:latin typeface="Calibri"/>
              </a:rPr>
              <a:t>5 yrs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6811" y="5285232"/>
            <a:ext cx="116654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33414E"/>
                </a:solidFill>
                <a:latin typeface="Calibri"/>
              </a:rPr>
              <a:t>Assistant Directors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513085" y="2880360"/>
            <a:ext cx="1111681" cy="2331720"/>
          </a:xfrm>
          <a:prstGeom prst="rect">
            <a:avLst/>
          </a:prstGeom>
          <a:solidFill>
            <a:srgbClr val="124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85653" y="2569464"/>
            <a:ext cx="116654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24A2C"/>
                </a:solidFill>
                <a:latin typeface="Calibri"/>
              </a:rPr>
              <a:t>10 yrs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85653" y="5285232"/>
            <a:ext cx="116654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33414E"/>
                </a:solidFill>
                <a:latin typeface="Calibri"/>
              </a:rPr>
              <a:t>Director, ERRS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20840" y="5230368"/>
            <a:ext cx="5086807" cy="14630"/>
          </a:xfrm>
          <a:prstGeom prst="rect">
            <a:avLst/>
          </a:prstGeom>
          <a:solidFill>
            <a:srgbClr val="D6D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1142359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24A2C"/>
                </a:solidFill>
                <a:latin typeface="Calibr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502920"/>
            <a:ext cx="1142359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24A2C"/>
                </a:solidFill>
                <a:latin typeface="Calibri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042415"/>
            <a:ext cx="11423599" cy="25603"/>
          </a:xfrm>
          <a:prstGeom prst="rect">
            <a:avLst/>
          </a:prstGeom>
          <a:solidFill>
            <a:srgbClr val="124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6519672"/>
            <a:ext cx="11423599" cy="10972"/>
          </a:xfrm>
          <a:prstGeom prst="rect">
            <a:avLst/>
          </a:prstGeom>
          <a:solidFill>
            <a:srgbClr val="D6D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74536"/>
            <a:ext cx="9601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Environmental Research and Radiation Safety Department  |  Comprehensive Terms of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76127" y="657453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B7280"/>
                </a:solidFill>
                <a:latin typeface="Calibr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463040"/>
            <a:ext cx="11423599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3736" indent="-173736">
              <a:lnSpc>
                <a:spcPct val="115000"/>
              </a:lnSpc>
              <a:spcAft>
                <a:spcPts val="1800"/>
              </a:spcAft>
              <a:buClr>
                <a:srgbClr val="1E7A43"/>
              </a:buClr>
              <a:buFont typeface="Calibri"/>
              <a:buChar char="▪"/>
            </a:pPr>
            <a:r>
              <a:rPr sz="1350" b="0" i="0">
                <a:solidFill>
                  <a:srgbClr val="33414E"/>
                </a:solidFill>
                <a:latin typeface="Calibri"/>
              </a:rPr>
              <a:t>A complete governance framework for ERRS — one Director, four Assistant Directors and 33 established positions across four specialist units.</a:t>
            </a:r>
          </a:p>
          <a:p>
            <a:pPr algn="l" marL="173736" indent="-173736">
              <a:lnSpc>
                <a:spcPct val="115000"/>
              </a:lnSpc>
              <a:spcAft>
                <a:spcPts val="1800"/>
              </a:spcAft>
              <a:buClr>
                <a:srgbClr val="1E7A43"/>
              </a:buClr>
              <a:buFont typeface="Calibri"/>
              <a:buChar char="▪"/>
            </a:pPr>
            <a:r>
              <a:rPr sz="1350" b="0" i="0">
                <a:solidFill>
                  <a:srgbClr val="33414E"/>
                </a:solidFill>
                <a:latin typeface="Calibri"/>
              </a:rPr>
              <a:t>Every position is defined with a clear reporting line, core duties and minimum qualifications — a ready basis for recruitment, appraisal and re-classification.</a:t>
            </a:r>
          </a:p>
          <a:p>
            <a:pPr algn="l" marL="173736" indent="-173736">
              <a:lnSpc>
                <a:spcPct val="115000"/>
              </a:lnSpc>
              <a:spcAft>
                <a:spcPts val="1800"/>
              </a:spcAft>
              <a:buClr>
                <a:srgbClr val="1E7A43"/>
              </a:buClr>
              <a:buFont typeface="Calibri"/>
              <a:buChar char="▪"/>
            </a:pPr>
            <a:r>
              <a:rPr sz="1350" b="0" i="0">
                <a:solidFill>
                  <a:srgbClr val="33414E"/>
                </a:solidFill>
                <a:latin typeface="Calibri"/>
              </a:rPr>
              <a:t>Seven inter-unit collaboration mechanisms embed a multi-disciplinary, synergetic approach to environmental protection.</a:t>
            </a:r>
          </a:p>
          <a:p>
            <a:pPr algn="l" marL="173736" indent="-173736">
              <a:lnSpc>
                <a:spcPct val="115000"/>
              </a:lnSpc>
              <a:spcAft>
                <a:spcPts val="1800"/>
              </a:spcAft>
              <a:buClr>
                <a:srgbClr val="1E7A43"/>
              </a:buClr>
              <a:buFont typeface="Calibri"/>
              <a:buChar char="▪"/>
            </a:pPr>
            <a:r>
              <a:rPr sz="1350" b="0" i="0">
                <a:solidFill>
                  <a:srgbClr val="33414E"/>
                </a:solidFill>
                <a:latin typeface="Calibri"/>
              </a:rPr>
              <a:t>Practice is benchmarked to international standards and instruments — IAEA, ISO, GHS, NEBOSH / IOSH and PGEC.</a:t>
            </a:r>
          </a:p>
          <a:p>
            <a:pPr algn="l" marL="173736" indent="-173736">
              <a:lnSpc>
                <a:spcPct val="115000"/>
              </a:lnSpc>
              <a:spcAft>
                <a:spcPts val="1800"/>
              </a:spcAft>
              <a:buClr>
                <a:srgbClr val="1E7A43"/>
              </a:buClr>
              <a:buFont typeface="Calibri"/>
              <a:buChar char="▪"/>
            </a:pPr>
            <a:r>
              <a:rPr sz="1350" b="0" i="0">
                <a:solidFill>
                  <a:srgbClr val="33414E"/>
                </a:solidFill>
                <a:latin typeface="Calibri"/>
              </a:rPr>
              <a:t>The organogram distinguishes occupied, vacant and pending re-classification positions — a built-in capacity-planning tool.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5486400"/>
            <a:ext cx="11423599" cy="777240"/>
          </a:xfrm>
          <a:prstGeom prst="rect">
            <a:avLst/>
          </a:prstGeom>
          <a:solidFill>
            <a:srgbClr val="E9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687568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24A2C"/>
                </a:solidFill>
                <a:latin typeface="Calibri"/>
              </a:rPr>
              <a:t>One department, one mandate: </a:t>
            </a:r>
            <a:r>
              <a:rPr sz="1250" b="0" i="0">
                <a:solidFill>
                  <a:srgbClr val="212B36"/>
                </a:solidFill>
                <a:latin typeface="Calibri"/>
              </a:rPr>
              <a:t>protecting Liberia’s environment and public health through research, monitoring, licensing and regulatory oversight.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24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124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6455664"/>
            <a:ext cx="114235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Republic of Liberia  ·  Environmental Protection Agency  ·  Bright Building 302-A, Sekou Toure Avenue, Mamba Point  ·  P.O. Box 4024, 1000 Monrovia, 10 Liberia</a:t>
            </a:r>
          </a:p>
        </p:txBody>
      </p:sp>
      <p:pic>
        <p:nvPicPr>
          <p:cNvPr id="6" name="Picture 5" descr="seal_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1051560" cy="1051560"/>
          </a:xfrm>
          <a:prstGeom prst="rect">
            <a:avLst/>
          </a:prstGeom>
        </p:spPr>
      </p:pic>
      <p:pic>
        <p:nvPicPr>
          <p:cNvPr id="7" name="Picture 6" descr="epa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8535" y="1188720"/>
            <a:ext cx="1051560" cy="1051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4048" y="2606040"/>
            <a:ext cx="1142359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124A2C"/>
                </a:solidFill>
                <a:latin typeface="Calibri"/>
              </a:rPr>
              <a:t>Thank You</a:t>
            </a:r>
          </a:p>
        </p:txBody>
      </p:sp>
      <p:sp>
        <p:nvSpPr>
          <p:cNvPr id="9" name="Rectangle 8"/>
          <p:cNvSpPr/>
          <p:nvPr/>
        </p:nvSpPr>
        <p:spPr>
          <a:xfrm>
            <a:off x="5272887" y="3520440"/>
            <a:ext cx="1645920" cy="32004"/>
          </a:xfrm>
          <a:prstGeom prst="rect">
            <a:avLst/>
          </a:prstGeom>
          <a:solidFill>
            <a:srgbClr val="1E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3749039"/>
            <a:ext cx="1142359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212B36"/>
                </a:solidFill>
                <a:latin typeface="Calibri"/>
              </a:rPr>
              <a:t>Environmental Research and Radiation Safety Department</a:t>
            </a:r>
          </a:p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Comprehensive Terms of Reference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4937760"/>
            <a:ext cx="114235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33414E"/>
                </a:solidFill>
                <a:latin typeface="Calibri"/>
              </a:rPr>
              <a:t>Chemical Management Unit (CMU)  ·  Environmental Monitoring &amp; Research Unit (EMR)  ·  Radiation Safety Unit (RSU)  ·  Waste &amp; Remediation Unit (WRU)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5623560"/>
            <a:ext cx="1142359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E7A43"/>
                </a:solidFill>
                <a:latin typeface="Calibri"/>
              </a:rPr>
              <a:t>August 07,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